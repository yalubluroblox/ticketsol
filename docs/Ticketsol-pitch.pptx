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651dc3a60648c0" /><Relationship Type="http://schemas.openxmlformats.org/officeDocument/2006/relationships/extended-properties" Target="/docProps/app.xml" Id="R863329cbc1df4eba" /><Relationship Type="http://schemas.openxmlformats.org/officeDocument/2006/relationships/officeDocument" Target="/ppt/presentation.xml" Id="R21bcb952c911419f" /></Relationships>
</file>

<file path=ppt/presentation.xml><?xml version="1.0" encoding="utf-8"?>
<p:presentation xmlns:p="http://schemas.openxmlformats.org/presentationml/2006/main">
  <p:sldMasterIdLst>
    <p:sldMasterId xmlns:r="http://schemas.openxmlformats.org/officeDocument/2006/relationships" id="2147483648" r:id="R646d3ae633d2468d"/>
  </p:sldMasterIdLst>
  <p:notesMasterIdLst>
    <p:notesMasterId xmlns:r="http://schemas.openxmlformats.org/officeDocument/2006/relationships" r:id="Re5faee2c43444d9c"/>
  </p:notesMasterIdLst>
  <p:sldIdLst>
    <p:sldId xmlns:r="http://schemas.openxmlformats.org/officeDocument/2006/relationships" id="256" r:id="R154c80573deb4a3d"/>
    <p:sldId xmlns:r="http://schemas.openxmlformats.org/officeDocument/2006/relationships" id="257" r:id="Reb9946b6e49b413d"/>
    <p:sldId xmlns:r="http://schemas.openxmlformats.org/officeDocument/2006/relationships" id="258" r:id="Reeae78acdaf84cd8"/>
    <p:sldId xmlns:r="http://schemas.openxmlformats.org/officeDocument/2006/relationships" id="259" r:id="Rca3a222c958249e1"/>
    <p:sldId xmlns:r="http://schemas.openxmlformats.org/officeDocument/2006/relationships" id="260" r:id="R055d730ce9ae4cf1"/>
    <p:sldId xmlns:r="http://schemas.openxmlformats.org/officeDocument/2006/relationships" id="261" r:id="R4a5a004339e74003"/>
    <p:sldId xmlns:r="http://schemas.openxmlformats.org/officeDocument/2006/relationships" id="262" r:id="R6951d8e71a814b22"/>
    <p:sldId xmlns:r="http://schemas.openxmlformats.org/officeDocument/2006/relationships" id="263" r:id="Rd8da883315be4aa0"/>
    <p:sldId xmlns:r="http://schemas.openxmlformats.org/officeDocument/2006/relationships" id="264" r:id="Rcf516614dbb3419b"/>
    <p:sldId xmlns:r="http://schemas.openxmlformats.org/officeDocument/2006/relationships" id="265" r:id="Rd5a0be72b4c44c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bc2688da124002" /><Relationship Type="http://schemas.openxmlformats.org/officeDocument/2006/relationships/slideMaster" Target="/ppt/slideMasters/slideMaster1.xml" Id="R646d3ae633d2468d" /><Relationship Type="http://schemas.openxmlformats.org/officeDocument/2006/relationships/notesMaster" Target="/ppt/notesMasters/notesMaster1.xml" Id="Re5faee2c43444d9c" /><Relationship Type="http://schemas.openxmlformats.org/officeDocument/2006/relationships/presProps" Target="/ppt/presProps.xml" Id="Rd04accf6e2824a2e" /><Relationship Type="http://schemas.openxmlformats.org/officeDocument/2006/relationships/tableStyles" Target="/ppt/tableStyles.xml" Id="Rabe9d6be466c46b1" /><Relationship Type="http://schemas.openxmlformats.org/officeDocument/2006/relationships/slide" Target="/ppt/slides/slide1.xml" Id="R154c80573deb4a3d" /><Relationship Type="http://schemas.openxmlformats.org/officeDocument/2006/relationships/slide" Target="/ppt/slides/slide2.xml" Id="Reb9946b6e49b413d" /><Relationship Type="http://schemas.openxmlformats.org/officeDocument/2006/relationships/slide" Target="/ppt/slides/slide3.xml" Id="Reeae78acdaf84cd8" /><Relationship Type="http://schemas.openxmlformats.org/officeDocument/2006/relationships/slide" Target="/ppt/slides/slide4.xml" Id="Rca3a222c958249e1" /><Relationship Type="http://schemas.openxmlformats.org/officeDocument/2006/relationships/slide" Target="/ppt/slides/slide5.xml" Id="R055d730ce9ae4cf1" /><Relationship Type="http://schemas.openxmlformats.org/officeDocument/2006/relationships/slide" Target="/ppt/slides/slide6.xml" Id="R4a5a004339e74003" /><Relationship Type="http://schemas.openxmlformats.org/officeDocument/2006/relationships/slide" Target="/ppt/slides/slide7.xml" Id="R6951d8e71a814b22" /><Relationship Type="http://schemas.openxmlformats.org/officeDocument/2006/relationships/slide" Target="/ppt/slides/slide8.xml" Id="Rd8da883315be4aa0" /><Relationship Type="http://schemas.openxmlformats.org/officeDocument/2006/relationships/slide" Target="/ppt/slides/slide9.xml" Id="Rcf516614dbb3419b" /><Relationship Type="http://schemas.openxmlformats.org/officeDocument/2006/relationships/slide" Target="/ppt/slides/slide10.xml" Id="Rd5a0be72b4c44c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7b25658aca47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583602c8f94379" /><Relationship Type="http://schemas.openxmlformats.org/officeDocument/2006/relationships/notesMaster" Target="/ppt/notesMasters/notesMaster1.xml" Id="Rf2bc67d418fa46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ced7a00a054e6b" /><Relationship Type="http://schemas.openxmlformats.org/officeDocument/2006/relationships/notesMaster" Target="/ppt/notesMasters/notesMaster1.xml" Id="Rd674c6d9835b41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2ed040d582439e" /><Relationship Type="http://schemas.openxmlformats.org/officeDocument/2006/relationships/notesMaster" Target="/ppt/notesMasters/notesMaster1.xml" Id="Rf86081c6028a4f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5d7425a773420b" /><Relationship Type="http://schemas.openxmlformats.org/officeDocument/2006/relationships/notesMaster" Target="/ppt/notesMasters/notesMaster1.xml" Id="R2b6bf811b8404a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27296db7cb42c3" /><Relationship Type="http://schemas.openxmlformats.org/officeDocument/2006/relationships/notesMaster" Target="/ppt/notesMasters/notesMaster1.xml" Id="R27b51751e08340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63c7c386ba4711" /><Relationship Type="http://schemas.openxmlformats.org/officeDocument/2006/relationships/notesMaster" Target="/ppt/notesMasters/notesMaster1.xml" Id="R5584e63a62ce45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bd1c45ccd945f6" /><Relationship Type="http://schemas.openxmlformats.org/officeDocument/2006/relationships/notesMaster" Target="/ppt/notesMasters/notesMaster1.xml" Id="Rdf2796f9f4534a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f33318c21a48dd" /><Relationship Type="http://schemas.openxmlformats.org/officeDocument/2006/relationships/notesMaster" Target="/ppt/notesMasters/notesMaster1.xml" Id="R7f2b7380f34d4a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2b68800de84344" /><Relationship Type="http://schemas.openxmlformats.org/officeDocument/2006/relationships/notesMaster" Target="/ppt/notesMasters/notesMaster1.xml" Id="R0286ea8cd5ef4f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74f0e34a9a4d81" /><Relationship Type="http://schemas.openxmlformats.org/officeDocument/2006/relationships/notesMaster" Target="/ppt/notesMasters/notesMaster1.xml" Id="Rc9751aec98fe4e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Ticketsol project presentation. Source: founder brief and project README. Concert image: AI-generated illustrative artwork created for Ticketsol, not a photograph of an actual event.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founder observations in the conversation. No market size, incidence rate, customer interviews or traction figures have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founder-defined launch geography and audience. These are target cities, not active markets or confirmed partnerships. Image: generated Ticketsol electronic-event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site/program/Ticketsol.sol and README. The current cap equals face value. Custom organizer-configurable policies remain a product direction, not a current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application components and README. The end-to-end transaction journey requires Devnet deployment and initialized event state. The interface currently disables purchases until that state is 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site/program/Ticketsol.sol, lib/chain.ts and README. Solang compiles the program to native Solana SBF. Tickets use custom program state rather than SPL NFTs. The prototype uses one canonical event account and supports up to 64 tickets.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components/verify-ticket.tsx and README. Verification checks a wallet signature against current Solana state. A publicly accessible site is necessary for arbitrary phones. The site currently remains private. The program rejects repeat admission, but possession of a copied current proof remains a 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program and local-validator test results. These are implemented prototype parameters, not demonstrated revenue or validated pricing. Integer rounding remainder goes to the seller. The primary purchase price is 0.1 SOL.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 and program/test-results.json dated 1 October 2026. Latest verified implementation state in this workspace: 17 checks passed on a local validator; frontend type check, production build and browser search checks passed. No mainnet deployment or security audit. Additional four events are catalog previews. Site uses private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step, not a confirmed pilot. Source: founder brief and project scope. Before a commercial launch: multiple event accounts, refunds, easier payments, stronger QR protection and independent security review. Generated jazz image is illustrative artwork. Site: https://ticketsol-live.nrnbekov557178.chatgpt.site (currently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d044ed551f495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e17871f8604b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672b2966534d1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8512d55f1242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31950994df744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48cb689927f4e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368E45-2B11-4F16-9835-5681A752D25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4DA9357-FA71-4E36-AC10-586FEF3A5CD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D1B43F3-5133-43DB-B534-733F3139777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E98E43-0469-4F15-8C5D-28E664FC2D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20E602-4E9C-4A65-BB03-7B1CC51BE4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A3310FA-464B-4DEF-A4CB-DFA5CCF78F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E73EA9-8041-4AE9-B587-E73187366F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4F5FE88-5A7D-42DA-9F46-A9B9319271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97E65B-CF1E-4F96-A1DC-77C4AC2E3E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89EDD6-22B1-4D5B-946A-277494D40DB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4b8d37887a4df3" /><Relationship Type="http://schemas.openxmlformats.org/officeDocument/2006/relationships/slideLayout" Target="/ppt/slideLayouts/slideLayout1.xml" Id="R01fa5dd424a64d40" /><Relationship Type="http://schemas.openxmlformats.org/officeDocument/2006/relationships/slideLayout" Target="/ppt/slideLayouts/slideLayout2.xml" Id="Ra8f292f56ab04f40" /><Relationship Type="http://schemas.openxmlformats.org/officeDocument/2006/relationships/slideLayout" Target="/ppt/slideLayouts/slideLayout3.xml" Id="R9f898bb940984cd2" /><Relationship Type="http://schemas.openxmlformats.org/officeDocument/2006/relationships/slideLayout" Target="/ppt/slideLayouts/slideLayout4.xml" Id="R460b6674bfae42ae" /><Relationship Type="http://schemas.openxmlformats.org/officeDocument/2006/relationships/slideLayout" Target="/ppt/slideLayouts/slideLayout5.xml" Id="Re79085ae97e8473d" /><Relationship Type="http://schemas.openxmlformats.org/officeDocument/2006/relationships/slideLayout" Target="/ppt/slideLayouts/slideLayout6.xml" Id="R2b331a924b494a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fa5dd424a64d40"/>
    <p:sldLayoutId xmlns:r="http://schemas.openxmlformats.org/officeDocument/2006/relationships" id="2147483650" r:id="Ra8f292f56ab04f40"/>
    <p:sldLayoutId xmlns:r="http://schemas.openxmlformats.org/officeDocument/2006/relationships" id="2147483651" r:id="R9f898bb940984cd2"/>
    <p:sldLayoutId xmlns:r="http://schemas.openxmlformats.org/officeDocument/2006/relationships" id="2147483652" r:id="R460b6674bfae42ae"/>
    <p:sldLayoutId xmlns:r="http://schemas.openxmlformats.org/officeDocument/2006/relationships" id="2147483653" r:id="Re79085ae97e8473d"/>
    <p:sldLayoutId xmlns:r="http://schemas.openxmlformats.org/officeDocument/2006/relationships" id="2147483654" r:id="R2b331a924b494a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097c6f79fb24b56" /><Relationship Type="http://schemas.openxmlformats.org/officeDocument/2006/relationships/image" Target="/ppt/media/image.png" Id="R2fdc9a7087694189" /><Relationship Type="http://schemas.openxmlformats.org/officeDocument/2006/relationships/notesSlide" Target="/ppt/notesSlides/notesSlide1.xml" Id="R114c3ed76ccf40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1688326cc0c48d9" /><Relationship Type="http://schemas.openxmlformats.org/officeDocument/2006/relationships/notesSlide" Target="/ppt/notesSlides/notesSlide2.xml" Id="Re451fb16ddd84b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15d0be65bd945ce" /><Relationship Type="http://schemas.openxmlformats.org/officeDocument/2006/relationships/image" Target="/ppt/media/image2.png" Id="R40c00ea0b5214145" /><Relationship Type="http://schemas.openxmlformats.org/officeDocument/2006/relationships/notesSlide" Target="/ppt/notesSlides/notesSlide3.xml" Id="Rdf2a36428bdb45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fe69e4ed84c4086" /><Relationship Type="http://schemas.openxmlformats.org/officeDocument/2006/relationships/notesSlide" Target="/ppt/notesSlides/notesSlide4.xml" Id="Re4bc6eb70bb240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380736def2440e" /><Relationship Type="http://schemas.openxmlformats.org/officeDocument/2006/relationships/notesSlide" Target="/ppt/notesSlides/notesSlide5.xml" Id="R844b713d1e5742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2e7da531e3e4063" /><Relationship Type="http://schemas.openxmlformats.org/officeDocument/2006/relationships/notesSlide" Target="/ppt/notesSlides/notesSlide6.xml" Id="R27aa7717e9aa4a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9c6e386d828485c" /><Relationship Type="http://schemas.openxmlformats.org/officeDocument/2006/relationships/notesSlide" Target="/ppt/notesSlides/notesSlide7.xml" Id="Re0308170f81241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1345ed55ab140ee" /><Relationship Type="http://schemas.openxmlformats.org/officeDocument/2006/relationships/notesSlide" Target="/ppt/notesSlides/notesSlide8.xml" Id="R94da81c90ac94f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f1eda2b72014deb" /><Relationship Type="http://schemas.openxmlformats.org/officeDocument/2006/relationships/notesSlide" Target="/ppt/notesSlides/notesSlide9.xml" Id="R673a56263188473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942c95be70541ea" /><Relationship Type="http://schemas.openxmlformats.org/officeDocument/2006/relationships/image" Target="/ppt/media/image3.png" Id="Ra8b4e1b6baff45b8" /><Relationship Type="http://schemas.openxmlformats.org/officeDocument/2006/relationships/notesSlide" Target="/ppt/notesSlides/notesSlide10.xml" Id="R8e6486146e674c3d" /></Relationships>
</file>

<file path=ppt/slides/slide1.xml><?xml version="1.0" encoding="utf-8"?>
<p:sld xmlns:p="http://schemas.openxmlformats.org/presentationml/2006/main">
  <p:cSld>
    <p:bg>
      <p:bgPr>
        <a:solidFill xmlns:a="http://schemas.openxmlformats.org/drawingml/2006/main">
          <a:srgbClr val="F4F4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190F0F-BDFA-4026-AD0D-3C44FD2116EE}"/>
              </a:ext>
            </a:extLst>
          </p:cNvPr>
          <p:cNvSpPr>
            <a:spLocks xmlns:a="http://schemas.openxmlformats.org/drawingml/2006/main" noGrp="1"/>
          </p:cNvSpPr>
          <p:nvPr/>
        </p:nvSpPr>
        <p:spPr>
          <a:xfrm xmlns:a="http://schemas.openxmlformats.org/drawingml/2006/main">
            <a:off x="533400" y="285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11111"/>
                </a:solidFill>
                <a:latin typeface="Arial Narrow"/>
                <a:ea typeface="Arial Narrow"/>
                <a:cs typeface="Arial Narrow"/>
              </a:defRPr>
            </a:defPPr>
          </a:lstStyle>
          <a:p xmlns:a="http://schemas.openxmlformats.org/drawingml/2006/main">
            <a:pPr>
              <a:defRPr sz="1800" b="1">
                <a:solidFill>
                  <a:srgbClr val="111111"/>
                </a:solidFill>
                <a:latin typeface="Arial Narrow"/>
                <a:ea typeface="Arial Narrow"/>
                <a:cs typeface="Arial Narrow"/>
              </a:defRPr>
            </a:pPr>
            <a:r>
              <a:rPr sz="1800" b="1">
                <a:solidFill>
                  <a:srgbClr val="111111"/>
                </a:solidFill>
                <a:latin typeface="Arial Narrow"/>
                <a:ea typeface="Arial Narrow"/>
                <a:cs typeface="Arial Narrow"/>
              </a:rPr>
              <a:t>T/S®</a:t>
            </a:r>
          </a:p>
        </p:txBody>
      </p:sp>
      <p:sp>
        <p:nvSpPr>
          <p:cNvPr id="2" name="">
            <a:extLst xmlns:a="http://schemas.openxmlformats.org/drawingml/2006/main">
              <a:ext uri="{FF2B5EF4-FFF2-40B4-BE49-F238E27FC236}">
                <a16:creationId xmlns:a16="http://schemas.microsoft.com/office/drawing/2014/main" id="{27E3A4FE-2E00-469B-9C3D-9E8D51906140}"/>
              </a:ext>
            </a:extLst>
          </p:cNvPr>
          <p:cNvSpPr>
            <a:spLocks xmlns:a="http://schemas.openxmlformats.org/drawingml/2006/main" noGrp="1"/>
          </p:cNvSpPr>
          <p:nvPr/>
        </p:nvSpPr>
        <p:spPr>
          <a:xfrm xmlns:a="http://schemas.openxmlformats.org/drawingml/2006/main">
            <a:off x="10782300" y="342900"/>
            <a:ext cx="904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75756F"/>
                </a:solidFill>
                <a:latin typeface="Arial"/>
                <a:ea typeface="Arial"/>
                <a:cs typeface="Arial"/>
              </a:defRPr>
            </a:defPPr>
          </a:lstStyle>
          <a:p xmlns:a="http://schemas.openxmlformats.org/drawingml/2006/main">
            <a:pPr>
              <a:defRPr sz="1050" b="0">
                <a:solidFill>
                  <a:srgbClr val="75756F"/>
                </a:solidFill>
                <a:latin typeface="Arial"/>
                <a:ea typeface="Arial"/>
                <a:cs typeface="Arial"/>
              </a:defRPr>
            </a:pPr>
            <a:r>
              <a:rPr sz="1050" b="0">
                <a:solidFill>
                  <a:srgbClr val="75756F"/>
                </a:solidFill>
                <a:latin typeface="Arial"/>
                <a:ea typeface="Arial"/>
                <a:cs typeface="Arial"/>
              </a:rPr>
              <a:t>01 / 10</a:t>
            </a:r>
          </a:p>
        </p:txBody>
      </p:sp>
      <p:sp>
        <p:nvSpPr>
          <p:cNvPr id="3" name="">
            <a:extLst xmlns:a="http://schemas.openxmlformats.org/drawingml/2006/main">
              <a:ext uri="{FF2B5EF4-FFF2-40B4-BE49-F238E27FC236}">
                <a16:creationId xmlns:a16="http://schemas.microsoft.com/office/drawing/2014/main" id="{2BAA996B-8E22-4124-B207-8A2987227954}"/>
              </a:ext>
            </a:extLst>
          </p:cNvPr>
          <p:cNvSpPr>
            <a:spLocks xmlns:a="http://schemas.openxmlformats.org/drawingml/2006/main" noGrp="1"/>
          </p:cNvSpPr>
          <p:nvPr/>
        </p:nvSpPr>
        <p:spPr>
          <a:xfrm xmlns:a="http://schemas.openxmlformats.org/drawingml/2006/main">
            <a:off x="476250" y="904875"/>
            <a:ext cx="666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0" b="1">
                <a:solidFill>
                  <a:srgbClr val="111111"/>
                </a:solidFill>
                <a:latin typeface="Arial Narrow"/>
                <a:ea typeface="Arial Narrow"/>
                <a:cs typeface="Arial Narrow"/>
              </a:defRPr>
            </a:defPPr>
          </a:lstStyle>
          <a:p xmlns:a="http://schemas.openxmlformats.org/drawingml/2006/main">
            <a:pPr>
              <a:defRPr sz="10500" b="1">
                <a:solidFill>
                  <a:srgbClr val="111111"/>
                </a:solidFill>
                <a:latin typeface="Arial Narrow"/>
                <a:ea typeface="Arial Narrow"/>
                <a:cs typeface="Arial Narrow"/>
              </a:defRPr>
            </a:pPr>
            <a:r>
              <a:rPr sz="10500" b="1">
                <a:solidFill>
                  <a:srgbClr val="111111"/>
                </a:solidFill>
                <a:latin typeface="Arial Narrow"/>
                <a:ea typeface="Arial Narrow"/>
                <a:cs typeface="Arial Narrow"/>
              </a:rPr>
              <a:t>TICKET</a:t>
            </a:r>
          </a:p>
        </p:txBody>
      </p:sp>
      <p:sp>
        <p:nvSpPr>
          <p:cNvPr id="4" name="">
            <a:extLst xmlns:a="http://schemas.openxmlformats.org/drawingml/2006/main">
              <a:ext uri="{FF2B5EF4-FFF2-40B4-BE49-F238E27FC236}">
                <a16:creationId xmlns:a16="http://schemas.microsoft.com/office/drawing/2014/main" id="{72C5AC6C-0072-406B-B7D4-E251E676A8DA}"/>
              </a:ext>
            </a:extLst>
          </p:cNvPr>
          <p:cNvSpPr>
            <a:spLocks xmlns:a="http://schemas.openxmlformats.org/drawingml/2006/main" noGrp="1"/>
          </p:cNvSpPr>
          <p:nvPr/>
        </p:nvSpPr>
        <p:spPr>
          <a:xfrm xmlns:a="http://schemas.openxmlformats.org/drawingml/2006/main">
            <a:off x="7953375" y="904875"/>
            <a:ext cx="3714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0" b="1">
                <a:solidFill>
                  <a:srgbClr val="111111"/>
                </a:solidFill>
                <a:latin typeface="Arial Narrow"/>
                <a:ea typeface="Arial Narrow"/>
                <a:cs typeface="Arial Narrow"/>
              </a:defRPr>
            </a:defPPr>
          </a:lstStyle>
          <a:p xmlns:a="http://schemas.openxmlformats.org/drawingml/2006/main">
            <a:pPr>
              <a:defRPr sz="10500" b="1">
                <a:solidFill>
                  <a:srgbClr val="111111"/>
                </a:solidFill>
                <a:latin typeface="Arial Narrow"/>
                <a:ea typeface="Arial Narrow"/>
                <a:cs typeface="Arial Narrow"/>
              </a:defRPr>
            </a:pPr>
            <a:r>
              <a:rPr sz="10500" b="1">
                <a:solidFill>
                  <a:srgbClr val="111111"/>
                </a:solidFill>
                <a:latin typeface="Arial Narrow"/>
                <a:ea typeface="Arial Narrow"/>
                <a:cs typeface="Arial Narrow"/>
              </a:rPr>
              <a:t>SOL</a:t>
            </a:r>
          </a:p>
        </p:txBody>
      </p:sp>
      <p:pic>
        <p:nvPicPr>
          <p:cNvPr id="5" name="">
            <a:extLst xmlns:a="http://schemas.openxmlformats.org/drawingml/2006/main">
              <a:ext uri="{FF2B5EF4-FFF2-40B4-BE49-F238E27FC236}">
                <a16:creationId xmlns:a16="http://schemas.microsoft.com/office/drawing/2014/main" id="{BA185F62-BEC8-4B7E-988F-0BAD03286532}"/>
              </a:ext>
            </a:extLst>
          </p:cNvPr>
          <p:cNvPicPr>
            <a:picLocks xmlns:a="http://schemas.openxmlformats.org/drawingml/2006/main" noChangeAspect="1"/>
          </p:cNvPicPr>
          <p:nvPr/>
        </p:nvPicPr>
        <p:blipFill>
          <a:blip xmlns:r="http://schemas.openxmlformats.org/officeDocument/2006/relationships" xmlns:a="http://schemas.openxmlformats.org/drawingml/2006/main" r:embed="R2fdc9a7087694189"/>
          <a:srcRect xmlns:a="http://schemas.openxmlformats.org/drawingml/2006/main" l="0" t="10369" r="0" b="10369"/>
          <a:stretch xmlns:a="http://schemas.openxmlformats.org/drawingml/2006/main">
            <a:fillRect l="0" t="0" r="0" b="0"/>
          </a:stretch>
        </p:blipFill>
        <p:spPr>
          <a:xfrm xmlns:a="http://schemas.openxmlformats.org/drawingml/2006/main">
            <a:off x="4953000" y="2657475"/>
            <a:ext cx="6705600" cy="3543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C7DEA37-9917-43F4-999F-C04C40E38401}"/>
              </a:ext>
            </a:extLst>
          </p:cNvPr>
          <p:cNvSpPr>
            <a:spLocks xmlns:a="http://schemas.openxmlformats.org/drawingml/2006/main" noGrp="1"/>
          </p:cNvSpPr>
          <p:nvPr/>
        </p:nvSpPr>
        <p:spPr>
          <a:xfrm xmlns:a="http://schemas.openxmlformats.org/drawingml/2006/main">
            <a:off x="533400" y="2895600"/>
            <a:ext cx="4143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111111"/>
                </a:solidFill>
                <a:latin typeface="Arial Narrow"/>
                <a:ea typeface="Arial Narrow"/>
                <a:cs typeface="Arial Narrow"/>
              </a:defRPr>
            </a:defPPr>
          </a:lstStyle>
          <a:p xmlns:a="http://schemas.openxmlformats.org/drawingml/2006/main">
            <a:pPr>
              <a:defRPr sz="2925" b="1">
                <a:solidFill>
                  <a:srgbClr val="111111"/>
                </a:solidFill>
                <a:latin typeface="Arial Narrow"/>
                <a:ea typeface="Arial Narrow"/>
                <a:cs typeface="Arial Narrow"/>
              </a:defRPr>
            </a:pPr>
            <a:r>
              <a:rPr sz="2925" b="1">
                <a:solidFill>
                  <a:srgbClr val="111111"/>
                </a:solidFill>
                <a:latin typeface="Arial Narrow"/>
                <a:ea typeface="Arial Narrow"/>
                <a:cs typeface="Arial Narrow"/>
              </a:rPr>
              <a:t>Tickets with</a:t>
            </a:r>
          </a:p>
          <a:p xmlns:a="http://schemas.openxmlformats.org/drawingml/2006/main">
            <a:pPr>
              <a:defRPr sz="2925" b="1">
                <a:solidFill>
                  <a:srgbClr val="111111"/>
                </a:solidFill>
                <a:latin typeface="Arial Narrow"/>
                <a:ea typeface="Arial Narrow"/>
                <a:cs typeface="Arial Narrow"/>
              </a:defRPr>
            </a:pPr>
            <a:r>
              <a:rPr sz="2925" b="1">
                <a:solidFill>
                  <a:srgbClr val="111111"/>
                </a:solidFill>
                <a:latin typeface="Arial Narrow"/>
                <a:ea typeface="Arial Narrow"/>
                <a:cs typeface="Arial Narrow"/>
              </a:rPr>
              <a:t>verifiable ownership</a:t>
            </a:r>
          </a:p>
        </p:txBody>
      </p:sp>
      <p:sp>
        <p:nvSpPr>
          <p:cNvPr id="7" name="">
            <a:extLst xmlns:a="http://schemas.openxmlformats.org/drawingml/2006/main">
              <a:ext uri="{FF2B5EF4-FFF2-40B4-BE49-F238E27FC236}">
                <a16:creationId xmlns:a16="http://schemas.microsoft.com/office/drawing/2014/main" id="{0557DF08-2B9E-4674-8461-4306BA551DB4}"/>
              </a:ext>
            </a:extLst>
          </p:cNvPr>
          <p:cNvSpPr>
            <a:spLocks xmlns:a="http://schemas.openxmlformats.org/drawingml/2006/main" noGrp="1"/>
          </p:cNvSpPr>
          <p:nvPr/>
        </p:nvSpPr>
        <p:spPr>
          <a:xfrm xmlns:a="http://schemas.openxmlformats.org/drawingml/2006/main">
            <a:off x="533400" y="45148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11111"/>
                </a:solidFill>
                <a:latin typeface="Arial"/>
                <a:ea typeface="Arial"/>
                <a:cs typeface="Arial"/>
              </a:defRPr>
            </a:defPPr>
          </a:lstStyle>
          <a:p xmlns:a="http://schemas.openxmlformats.org/drawingml/2006/main">
            <a:pPr>
              <a:defRPr sz="1950" b="0">
                <a:solidFill>
                  <a:srgbClr val="111111"/>
                </a:solidFill>
                <a:latin typeface="Arial"/>
                <a:ea typeface="Arial"/>
                <a:cs typeface="Arial"/>
              </a:defRPr>
            </a:pPr>
            <a:r>
              <a:rPr sz="1950" b="0">
                <a:solidFill>
                  <a:srgbClr val="111111"/>
                </a:solidFill>
                <a:latin typeface="Arial"/>
                <a:ea typeface="Arial"/>
                <a:cs typeface="Arial"/>
              </a:rPr>
              <a:t>Buy and resell event tickets</a:t>
            </a:r>
          </a:p>
          <a:p xmlns:a="http://schemas.openxmlformats.org/drawingml/2006/main">
            <a:pPr>
              <a:defRPr sz="1950" b="0">
                <a:solidFill>
                  <a:srgbClr val="111111"/>
                </a:solidFill>
                <a:latin typeface="Arial"/>
                <a:ea typeface="Arial"/>
                <a:cs typeface="Arial"/>
              </a:defRPr>
            </a:pPr>
            <a:r>
              <a:rPr sz="1950" b="0">
                <a:solidFill>
                  <a:srgbClr val="111111"/>
                </a:solidFill>
                <a:latin typeface="Arial"/>
                <a:ea typeface="Arial"/>
                <a:cs typeface="Arial"/>
              </a:rPr>
              <a:t>with rules enforced on Solana.</a:t>
            </a:r>
          </a:p>
        </p:txBody>
      </p:sp>
      <p:sp>
        <p:nvSpPr>
          <p:cNvPr id="8" name="">
            <a:extLst xmlns:a="http://schemas.openxmlformats.org/drawingml/2006/main">
              <a:ext uri="{FF2B5EF4-FFF2-40B4-BE49-F238E27FC236}">
                <a16:creationId xmlns:a16="http://schemas.microsoft.com/office/drawing/2014/main" id="{BEEB1E05-2529-44AB-B017-90AF61A575F3}"/>
              </a:ext>
            </a:extLst>
          </p:cNvPr>
          <p:cNvSpPr>
            <a:spLocks xmlns:a="http://schemas.openxmlformats.org/drawingml/2006/main" noGrp="1"/>
          </p:cNvSpPr>
          <p:nvPr/>
        </p:nvSpPr>
        <p:spPr>
          <a:xfrm xmlns:a="http://schemas.openxmlformats.org/drawingml/2006/main">
            <a:off x="533400" y="5962650"/>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1">
                <a:solidFill>
                  <a:srgbClr val="111111"/>
                </a:solidFill>
                <a:latin typeface="Arial"/>
                <a:ea typeface="Arial"/>
                <a:cs typeface="Arial"/>
              </a:defRPr>
            </a:defPPr>
          </a:lstStyle>
          <a:p xmlns:a="http://schemas.openxmlformats.org/drawingml/2006/main">
            <a:pPr>
              <a:defRPr sz="1275" b="1">
                <a:solidFill>
                  <a:srgbClr val="111111"/>
                </a:solidFill>
                <a:latin typeface="Arial"/>
                <a:ea typeface="Arial"/>
                <a:cs typeface="Arial"/>
              </a:defRPr>
            </a:pPr>
            <a:r>
              <a:rPr sz="1275" b="1">
                <a:solidFill>
                  <a:srgbClr val="111111"/>
                </a:solidFill>
                <a:latin typeface="Arial"/>
                <a:ea typeface="Arial"/>
                <a:cs typeface="Arial"/>
              </a:rPr>
              <a:t>HACKATHON MVP / KAZAKHSTAN</a:t>
            </a:r>
          </a:p>
        </p:txBody>
      </p:sp>
    </p:spTree>
    <p:extLst>
      <p:ext uri="{BB962C8B-B14F-4D97-AF65-F5344CB8AC3E}">
        <p14:creationId xmlns:p14="http://schemas.microsoft.com/office/powerpoint/2010/main" val="878409801"/>
      </p:ext>
    </p:extLst>
  </p:cSld>
</p:sld>
</file>

<file path=ppt/slides/slide2.xml><?xml version="1.0" encoding="utf-8"?>
<p:sld xmlns:p="http://schemas.openxmlformats.org/presentationml/2006/main">
  <p:cSld>
    <p:bg>
      <p:bgPr>
        <a:solidFill xmlns:a="http://schemas.openxmlformats.org/drawingml/2006/main">
          <a:srgbClr val="F4F4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587664-967F-4E26-9AAF-8DD1EADAD216}"/>
              </a:ext>
            </a:extLst>
          </p:cNvPr>
          <p:cNvSpPr>
            <a:spLocks xmlns:a="http://schemas.openxmlformats.org/drawingml/2006/main" noGrp="1"/>
          </p:cNvSpPr>
          <p:nvPr/>
        </p:nvSpPr>
        <p:spPr>
          <a:xfrm xmlns:a="http://schemas.openxmlformats.org/drawingml/2006/main">
            <a:off x="533400" y="285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11111"/>
                </a:solidFill>
                <a:latin typeface="Arial Narrow"/>
                <a:ea typeface="Arial Narrow"/>
                <a:cs typeface="Arial Narrow"/>
              </a:defRPr>
            </a:defPPr>
          </a:lstStyle>
          <a:p xmlns:a="http://schemas.openxmlformats.org/drawingml/2006/main">
            <a:pPr>
              <a:defRPr sz="1800" b="1">
                <a:solidFill>
                  <a:srgbClr val="111111"/>
                </a:solidFill>
                <a:latin typeface="Arial Narrow"/>
                <a:ea typeface="Arial Narrow"/>
                <a:cs typeface="Arial Narrow"/>
              </a:defRPr>
            </a:pPr>
            <a:r>
              <a:rPr sz="1800" b="1">
                <a:solidFill>
                  <a:srgbClr val="111111"/>
                </a:solidFill>
                <a:latin typeface="Arial Narrow"/>
                <a:ea typeface="Arial Narrow"/>
                <a:cs typeface="Arial Narrow"/>
              </a:rPr>
              <a:t>T/S®</a:t>
            </a:r>
          </a:p>
        </p:txBody>
      </p:sp>
      <p:sp>
        <p:nvSpPr>
          <p:cNvPr id="2" name="">
            <a:extLst xmlns:a="http://schemas.openxmlformats.org/drawingml/2006/main">
              <a:ext uri="{FF2B5EF4-FFF2-40B4-BE49-F238E27FC236}">
                <a16:creationId xmlns:a16="http://schemas.microsoft.com/office/drawing/2014/main" id="{FE14A368-B75C-4A24-ADBA-D989424BE7ED}"/>
              </a:ext>
            </a:extLst>
          </p:cNvPr>
          <p:cNvSpPr>
            <a:spLocks xmlns:a="http://schemas.openxmlformats.org/drawingml/2006/main" noGrp="1"/>
          </p:cNvSpPr>
          <p:nvPr/>
        </p:nvSpPr>
        <p:spPr>
          <a:xfrm xmlns:a="http://schemas.openxmlformats.org/drawingml/2006/main">
            <a:off x="10782300" y="342900"/>
            <a:ext cx="904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75756F"/>
                </a:solidFill>
                <a:latin typeface="Arial"/>
                <a:ea typeface="Arial"/>
                <a:cs typeface="Arial"/>
              </a:defRPr>
            </a:defPPr>
          </a:lstStyle>
          <a:p xmlns:a="http://schemas.openxmlformats.org/drawingml/2006/main">
            <a:pPr>
              <a:defRPr sz="1050" b="0">
                <a:solidFill>
                  <a:srgbClr val="75756F"/>
                </a:solidFill>
                <a:latin typeface="Arial"/>
                <a:ea typeface="Arial"/>
                <a:cs typeface="Arial"/>
              </a:defRPr>
            </a:pPr>
            <a:r>
              <a:rPr sz="1050" b="0">
                <a:solidFill>
                  <a:srgbClr val="75756F"/>
                </a:solidFill>
                <a:latin typeface="Arial"/>
                <a:ea typeface="Arial"/>
                <a:cs typeface="Arial"/>
              </a:rPr>
              <a:t>02 / 10</a:t>
            </a:r>
          </a:p>
        </p:txBody>
      </p:sp>
      <p:sp>
        <p:nvSpPr>
          <p:cNvPr id="3" name="">
            <a:extLst xmlns:a="http://schemas.openxmlformats.org/drawingml/2006/main">
              <a:ext uri="{FF2B5EF4-FFF2-40B4-BE49-F238E27FC236}">
                <a16:creationId xmlns:a16="http://schemas.microsoft.com/office/drawing/2014/main" id="{2CAF3491-4ECF-4472-8E3F-20EA6C24CC02}"/>
              </a:ext>
            </a:extLst>
          </p:cNvPr>
          <p:cNvSpPr>
            <a:spLocks xmlns:a="http://schemas.openxmlformats.org/drawingml/2006/main" noGrp="1"/>
          </p:cNvSpPr>
          <p:nvPr/>
        </p:nvSpPr>
        <p:spPr>
          <a:xfrm xmlns:a="http://schemas.openxmlformats.org/drawingml/2006/main">
            <a:off x="533400" y="1047750"/>
            <a:ext cx="1104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350" b="1">
                <a:solidFill>
                  <a:srgbClr val="111111"/>
                </a:solidFill>
                <a:latin typeface="Arial Narrow"/>
                <a:ea typeface="Arial Narrow"/>
                <a:cs typeface="Arial Narrow"/>
              </a:defRPr>
            </a:defPPr>
          </a:lstStyle>
          <a:p xmlns:a="http://schemas.openxmlformats.org/drawingml/2006/main">
            <a:pPr>
              <a:defRPr sz="4350" b="1">
                <a:solidFill>
                  <a:srgbClr val="111111"/>
                </a:solidFill>
                <a:latin typeface="Arial Narrow"/>
                <a:ea typeface="Arial Narrow"/>
                <a:cs typeface="Arial Narrow"/>
              </a:defRPr>
            </a:pPr>
            <a:r>
              <a:rPr sz="4350" b="1">
                <a:solidFill>
                  <a:srgbClr val="111111"/>
                </a:solidFill>
                <a:latin typeface="Arial Narrow"/>
                <a:ea typeface="Arial Narrow"/>
                <a:cs typeface="Arial Narrow"/>
              </a:rPr>
              <a:t>The risk of buying a ticket from a stranger</a:t>
            </a:r>
          </a:p>
        </p:txBody>
      </p:sp>
      <p:sp>
        <p:nvSpPr>
          <p:cNvPr id="4" name="">
            <a:extLst xmlns:a="http://schemas.openxmlformats.org/drawingml/2006/main">
              <a:ext uri="{FF2B5EF4-FFF2-40B4-BE49-F238E27FC236}">
                <a16:creationId xmlns:a16="http://schemas.microsoft.com/office/drawing/2014/main" id="{75083209-E4F0-44DF-8382-B30BCCD115AB}"/>
              </a:ext>
            </a:extLst>
          </p:cNvPr>
          <p:cNvSpPr>
            <a:spLocks xmlns:a="http://schemas.openxmlformats.org/drawingml/2006/main" noGrp="1"/>
          </p:cNvSpPr>
          <p:nvPr/>
        </p:nvSpPr>
        <p:spPr>
          <a:xfrm xmlns:a="http://schemas.openxmlformats.org/drawingml/2006/main">
            <a:off x="533400" y="2695575"/>
            <a:ext cx="5715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950" b="1">
                <a:solidFill>
                  <a:srgbClr val="111111"/>
                </a:solidFill>
                <a:latin typeface="Arial Narrow"/>
                <a:ea typeface="Arial Narrow"/>
                <a:cs typeface="Arial Narrow"/>
              </a:defRPr>
            </a:defPPr>
          </a:lstStyle>
          <a:p xmlns:a="http://schemas.openxmlformats.org/drawingml/2006/main">
            <a:pPr>
              <a:defRPr sz="4950" b="1">
                <a:solidFill>
                  <a:srgbClr val="111111"/>
                </a:solidFill>
                <a:latin typeface="Arial Narrow"/>
                <a:ea typeface="Arial Narrow"/>
                <a:cs typeface="Arial Narrow"/>
              </a:defRPr>
            </a:pPr>
            <a:r>
              <a:rPr sz="4950" b="1">
                <a:solidFill>
                  <a:srgbClr val="111111"/>
                </a:solidFill>
                <a:latin typeface="Arial Narrow"/>
                <a:ea typeface="Arial Narrow"/>
                <a:cs typeface="Arial Narrow"/>
              </a:rPr>
              <a:t>“Will this ticket</a:t>
            </a:r>
          </a:p>
          <a:p xmlns:a="http://schemas.openxmlformats.org/drawingml/2006/main">
            <a:pPr>
              <a:defRPr sz="4950" b="1">
                <a:solidFill>
                  <a:srgbClr val="111111"/>
                </a:solidFill>
                <a:latin typeface="Arial Narrow"/>
                <a:ea typeface="Arial Narrow"/>
                <a:cs typeface="Arial Narrow"/>
              </a:defRPr>
            </a:pPr>
            <a:r>
              <a:rPr sz="4950" b="1">
                <a:solidFill>
                  <a:srgbClr val="111111"/>
                </a:solidFill>
                <a:latin typeface="Arial Narrow"/>
                <a:ea typeface="Arial Narrow"/>
                <a:cs typeface="Arial Narrow"/>
              </a:rPr>
              <a:t>get me in?”</a:t>
            </a:r>
          </a:p>
        </p:txBody>
      </p:sp>
      <p:sp>
        <p:nvSpPr>
          <p:cNvPr id="5" name="">
            <a:extLst xmlns:a="http://schemas.openxmlformats.org/drawingml/2006/main">
              <a:ext uri="{FF2B5EF4-FFF2-40B4-BE49-F238E27FC236}">
                <a16:creationId xmlns:a16="http://schemas.microsoft.com/office/drawing/2014/main" id="{E8FB87F5-679E-4B1D-BC3C-23BA098F5FBA}"/>
              </a:ext>
            </a:extLst>
          </p:cNvPr>
          <p:cNvSpPr>
            <a:spLocks xmlns:a="http://schemas.openxmlformats.org/drawingml/2006/main" noGrp="1"/>
          </p:cNvSpPr>
          <p:nvPr/>
        </p:nvSpPr>
        <p:spPr>
          <a:xfrm xmlns:a="http://schemas.openxmlformats.org/drawingml/2006/main">
            <a:off x="7143750" y="2667000"/>
            <a:ext cx="4429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11111"/>
                </a:solidFill>
                <a:latin typeface="Arial"/>
                <a:ea typeface="Arial"/>
                <a:cs typeface="Arial"/>
              </a:defRPr>
            </a:defPPr>
          </a:lstStyle>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A buyer cannot easily verify who owns</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a ticket or whether a copy is still valid.</a:t>
            </a:r>
          </a:p>
        </p:txBody>
      </p:sp>
      <p:sp>
        <p:nvSpPr>
          <p:cNvPr id="6" name="">
            <a:extLst xmlns:a="http://schemas.openxmlformats.org/drawingml/2006/main">
              <a:ext uri="{FF2B5EF4-FFF2-40B4-BE49-F238E27FC236}">
                <a16:creationId xmlns:a16="http://schemas.microsoft.com/office/drawing/2014/main" id="{B8684A1F-EBC3-4A58-8B6D-B1AB6D06A197}"/>
              </a:ext>
            </a:extLst>
          </p:cNvPr>
          <p:cNvSpPr>
            <a:spLocks xmlns:a="http://schemas.openxmlformats.org/drawingml/2006/main" noGrp="1"/>
          </p:cNvSpPr>
          <p:nvPr/>
        </p:nvSpPr>
        <p:spPr>
          <a:xfrm xmlns:a="http://schemas.openxmlformats.org/drawingml/2006/main">
            <a:off x="7143750" y="4095750"/>
            <a:ext cx="4429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11111"/>
                </a:solidFill>
                <a:latin typeface="Arial"/>
                <a:ea typeface="Arial"/>
                <a:cs typeface="Arial"/>
              </a:defRPr>
            </a:defPPr>
          </a:lstStyle>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Unofficial resale can also push prices</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far above the original ticket price.</a:t>
            </a:r>
          </a:p>
        </p:txBody>
      </p:sp>
      <p:sp>
        <p:nvSpPr>
          <p:cNvPr id="7" name="">
            <a:extLst xmlns:a="http://schemas.openxmlformats.org/drawingml/2006/main">
              <a:ext uri="{FF2B5EF4-FFF2-40B4-BE49-F238E27FC236}">
                <a16:creationId xmlns:a16="http://schemas.microsoft.com/office/drawing/2014/main" id="{364993AD-C9A4-4731-964D-0FF86D0AAE86}"/>
              </a:ext>
            </a:extLst>
          </p:cNvPr>
          <p:cNvSpPr>
            <a:spLocks xmlns:a="http://schemas.openxmlformats.org/drawingml/2006/main" noGrp="1"/>
          </p:cNvSpPr>
          <p:nvPr/>
        </p:nvSpPr>
        <p:spPr>
          <a:xfrm xmlns:a="http://schemas.openxmlformats.org/drawingml/2006/main">
            <a:off x="533400" y="5886450"/>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75756F"/>
                </a:solidFill>
                <a:latin typeface="Arial"/>
                <a:ea typeface="Arial"/>
                <a:cs typeface="Arial"/>
              </a:defRPr>
            </a:defPPr>
          </a:lstStyle>
          <a:p xmlns:a="http://schemas.openxmlformats.org/drawingml/2006/main">
            <a:pPr>
              <a:defRPr sz="1350" b="0">
                <a:solidFill>
                  <a:srgbClr val="75756F"/>
                </a:solidFill>
                <a:latin typeface="Arial"/>
                <a:ea typeface="Arial"/>
                <a:cs typeface="Arial"/>
              </a:defRPr>
            </a:pPr>
            <a:r>
              <a:rPr sz="1350" b="0">
                <a:solidFill>
                  <a:srgbClr val="75756F"/>
                </a:solidFill>
                <a:latin typeface="Arial"/>
                <a:ea typeface="Arial"/>
                <a:cs typeface="Arial"/>
              </a:rPr>
              <a:t>Demand hypothesis: complaints observed on Threads. Customer interviews and demand validation are still pending.</a:t>
            </a:r>
          </a:p>
        </p:txBody>
      </p:sp>
    </p:spTree>
    <p:extLst>
      <p:ext uri="{BB962C8B-B14F-4D97-AF65-F5344CB8AC3E}">
        <p14:creationId xmlns:p14="http://schemas.microsoft.com/office/powerpoint/2010/main" val="1116279501"/>
      </p:ext>
    </p:extLst>
  </p:cSld>
</p:sld>
</file>

<file path=ppt/slides/slide3.xml><?xml version="1.0" encoding="utf-8"?>
<p:sld xmlns:p="http://schemas.openxmlformats.org/presentationml/2006/main">
  <p:cSld>
    <p:bg>
      <p:bgPr>
        <a:solidFill xmlns:a="http://schemas.openxmlformats.org/drawingml/2006/main">
          <a:srgbClr val="F4F4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808F1D-B640-4CF3-AB03-ADA7C691903B}"/>
              </a:ext>
            </a:extLst>
          </p:cNvPr>
          <p:cNvSpPr>
            <a:spLocks xmlns:a="http://schemas.openxmlformats.org/drawingml/2006/main" noGrp="1"/>
          </p:cNvSpPr>
          <p:nvPr/>
        </p:nvSpPr>
        <p:spPr>
          <a:xfrm xmlns:a="http://schemas.openxmlformats.org/drawingml/2006/main">
            <a:off x="533400" y="285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11111"/>
                </a:solidFill>
                <a:latin typeface="Arial Narrow"/>
                <a:ea typeface="Arial Narrow"/>
                <a:cs typeface="Arial Narrow"/>
              </a:defRPr>
            </a:defPPr>
          </a:lstStyle>
          <a:p xmlns:a="http://schemas.openxmlformats.org/drawingml/2006/main">
            <a:pPr>
              <a:defRPr sz="1800" b="1">
                <a:solidFill>
                  <a:srgbClr val="111111"/>
                </a:solidFill>
                <a:latin typeface="Arial Narrow"/>
                <a:ea typeface="Arial Narrow"/>
                <a:cs typeface="Arial Narrow"/>
              </a:defRPr>
            </a:pPr>
            <a:r>
              <a:rPr sz="1800" b="1">
                <a:solidFill>
                  <a:srgbClr val="111111"/>
                </a:solidFill>
                <a:latin typeface="Arial Narrow"/>
                <a:ea typeface="Arial Narrow"/>
                <a:cs typeface="Arial Narrow"/>
              </a:rPr>
              <a:t>T/S®</a:t>
            </a:r>
          </a:p>
        </p:txBody>
      </p:sp>
      <p:sp>
        <p:nvSpPr>
          <p:cNvPr id="2" name="">
            <a:extLst xmlns:a="http://schemas.openxmlformats.org/drawingml/2006/main">
              <a:ext uri="{FF2B5EF4-FFF2-40B4-BE49-F238E27FC236}">
                <a16:creationId xmlns:a16="http://schemas.microsoft.com/office/drawing/2014/main" id="{5E9CBC1E-08A9-442A-BC8C-91A48CF1AE1D}"/>
              </a:ext>
            </a:extLst>
          </p:cNvPr>
          <p:cNvSpPr>
            <a:spLocks xmlns:a="http://schemas.openxmlformats.org/drawingml/2006/main" noGrp="1"/>
          </p:cNvSpPr>
          <p:nvPr/>
        </p:nvSpPr>
        <p:spPr>
          <a:xfrm xmlns:a="http://schemas.openxmlformats.org/drawingml/2006/main">
            <a:off x="10782300" y="342900"/>
            <a:ext cx="904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75756F"/>
                </a:solidFill>
                <a:latin typeface="Arial"/>
                <a:ea typeface="Arial"/>
                <a:cs typeface="Arial"/>
              </a:defRPr>
            </a:defPPr>
          </a:lstStyle>
          <a:p xmlns:a="http://schemas.openxmlformats.org/drawingml/2006/main">
            <a:pPr>
              <a:defRPr sz="1050" b="0">
                <a:solidFill>
                  <a:srgbClr val="75756F"/>
                </a:solidFill>
                <a:latin typeface="Arial"/>
                <a:ea typeface="Arial"/>
                <a:cs typeface="Arial"/>
              </a:defRPr>
            </a:pPr>
            <a:r>
              <a:rPr sz="1050" b="0">
                <a:solidFill>
                  <a:srgbClr val="75756F"/>
                </a:solidFill>
                <a:latin typeface="Arial"/>
                <a:ea typeface="Arial"/>
                <a:cs typeface="Arial"/>
              </a:rPr>
              <a:t>03 / 10</a:t>
            </a:r>
          </a:p>
        </p:txBody>
      </p:sp>
      <p:sp>
        <p:nvSpPr>
          <p:cNvPr id="3" name="">
            <a:extLst xmlns:a="http://schemas.openxmlformats.org/drawingml/2006/main">
              <a:ext uri="{FF2B5EF4-FFF2-40B4-BE49-F238E27FC236}">
                <a16:creationId xmlns:a16="http://schemas.microsoft.com/office/drawing/2014/main" id="{1A91B419-47A5-4F93-9EBE-740FFE80B1F6}"/>
              </a:ext>
            </a:extLst>
          </p:cNvPr>
          <p:cNvSpPr>
            <a:spLocks xmlns:a="http://schemas.openxmlformats.org/drawingml/2006/main" noGrp="1"/>
          </p:cNvSpPr>
          <p:nvPr/>
        </p:nvSpPr>
        <p:spPr>
          <a:xfrm xmlns:a="http://schemas.openxmlformats.org/drawingml/2006/main">
            <a:off x="533400" y="1047750"/>
            <a:ext cx="1104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350" b="1">
                <a:solidFill>
                  <a:srgbClr val="111111"/>
                </a:solidFill>
                <a:latin typeface="Arial Narrow"/>
                <a:ea typeface="Arial Narrow"/>
                <a:cs typeface="Arial Narrow"/>
              </a:defRPr>
            </a:defPPr>
          </a:lstStyle>
          <a:p xmlns:a="http://schemas.openxmlformats.org/drawingml/2006/main">
            <a:pPr>
              <a:defRPr sz="4350" b="1">
                <a:solidFill>
                  <a:srgbClr val="111111"/>
                </a:solidFill>
                <a:latin typeface="Arial Narrow"/>
                <a:ea typeface="Arial Narrow"/>
                <a:cs typeface="Arial Narrow"/>
              </a:defRPr>
            </a:pPr>
            <a:r>
              <a:rPr sz="4350" b="1">
                <a:solidFill>
                  <a:srgbClr val="111111"/>
                </a:solidFill>
                <a:latin typeface="Arial Narrow"/>
                <a:ea typeface="Arial Narrow"/>
                <a:cs typeface="Arial Narrow"/>
              </a:rPr>
              <a:t>Our first audience</a:t>
            </a:r>
          </a:p>
        </p:txBody>
      </p:sp>
      <p:sp>
        <p:nvSpPr>
          <p:cNvPr id="4" name="">
            <a:extLst xmlns:a="http://schemas.openxmlformats.org/drawingml/2006/main">
              <a:ext uri="{FF2B5EF4-FFF2-40B4-BE49-F238E27FC236}">
                <a16:creationId xmlns:a16="http://schemas.microsoft.com/office/drawing/2014/main" id="{02ECDD32-DAA5-48CB-9CD1-14B556CDE8A3}"/>
              </a:ext>
            </a:extLst>
          </p:cNvPr>
          <p:cNvSpPr>
            <a:spLocks xmlns:a="http://schemas.openxmlformats.org/drawingml/2006/main" noGrp="1"/>
          </p:cNvSpPr>
          <p:nvPr/>
        </p:nvSpPr>
        <p:spPr>
          <a:xfrm xmlns:a="http://schemas.openxmlformats.org/drawingml/2006/main">
            <a:off x="533400" y="2552700"/>
            <a:ext cx="5953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75" b="1">
                <a:solidFill>
                  <a:srgbClr val="111111"/>
                </a:solidFill>
                <a:latin typeface="Arial Narrow"/>
                <a:ea typeface="Arial Narrow"/>
                <a:cs typeface="Arial Narrow"/>
              </a:defRPr>
            </a:defPPr>
          </a:lstStyle>
          <a:p xmlns:a="http://schemas.openxmlformats.org/drawingml/2006/main">
            <a:pPr>
              <a:defRPr sz="3075" b="1">
                <a:solidFill>
                  <a:srgbClr val="111111"/>
                </a:solidFill>
                <a:latin typeface="Arial Narrow"/>
                <a:ea typeface="Arial Narrow"/>
                <a:cs typeface="Arial Narrow"/>
              </a:defRPr>
            </a:pPr>
            <a:r>
              <a:rPr sz="3075" b="1">
                <a:solidFill>
                  <a:srgbClr val="111111"/>
                </a:solidFill>
                <a:latin typeface="Arial Narrow"/>
                <a:ea typeface="Arial Narrow"/>
                <a:cs typeface="Arial Narrow"/>
              </a:rPr>
              <a:t>Fans who want to verify</a:t>
            </a:r>
          </a:p>
          <a:p xmlns:a="http://schemas.openxmlformats.org/drawingml/2006/main">
            <a:pPr>
              <a:defRPr sz="3075" b="1">
                <a:solidFill>
                  <a:srgbClr val="111111"/>
                </a:solidFill>
                <a:latin typeface="Arial Narrow"/>
                <a:ea typeface="Arial Narrow"/>
                <a:cs typeface="Arial Narrow"/>
              </a:defRPr>
            </a:pPr>
            <a:r>
              <a:rPr sz="3075" b="1">
                <a:solidFill>
                  <a:srgbClr val="111111"/>
                </a:solidFill>
                <a:latin typeface="Arial Narrow"/>
                <a:ea typeface="Arial Narrow"/>
                <a:cs typeface="Arial Narrow"/>
              </a:rPr>
              <a:t>a resale ticket before paying.</a:t>
            </a:r>
          </a:p>
        </p:txBody>
      </p:sp>
      <p:sp>
        <p:nvSpPr>
          <p:cNvPr id="5" name="">
            <a:extLst xmlns:a="http://schemas.openxmlformats.org/drawingml/2006/main">
              <a:ext uri="{FF2B5EF4-FFF2-40B4-BE49-F238E27FC236}">
                <a16:creationId xmlns:a16="http://schemas.microsoft.com/office/drawing/2014/main" id="{F7579797-C21A-4AFD-ACAA-9AC8E40BF098}"/>
              </a:ext>
            </a:extLst>
          </p:cNvPr>
          <p:cNvSpPr>
            <a:spLocks xmlns:a="http://schemas.openxmlformats.org/drawingml/2006/main" noGrp="1"/>
          </p:cNvSpPr>
          <p:nvPr/>
        </p:nvSpPr>
        <p:spPr>
          <a:xfrm xmlns:a="http://schemas.openxmlformats.org/drawingml/2006/main">
            <a:off x="533400" y="4095750"/>
            <a:ext cx="3476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11111"/>
                </a:solidFill>
                <a:latin typeface="Arial"/>
                <a:ea typeface="Arial"/>
                <a:cs typeface="Arial"/>
              </a:defRPr>
            </a:defPPr>
          </a:lstStyle>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Almaty</a:t>
            </a:r>
          </a:p>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Astana</a:t>
            </a:r>
          </a:p>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Shymkent</a:t>
            </a:r>
          </a:p>
        </p:txBody>
      </p:sp>
      <p:sp>
        <p:nvSpPr>
          <p:cNvPr id="6" name="">
            <a:extLst xmlns:a="http://schemas.openxmlformats.org/drawingml/2006/main">
              <a:ext uri="{FF2B5EF4-FFF2-40B4-BE49-F238E27FC236}">
                <a16:creationId xmlns:a16="http://schemas.microsoft.com/office/drawing/2014/main" id="{B76F81C1-F497-4676-932D-DD77360711F1}"/>
              </a:ext>
            </a:extLst>
          </p:cNvPr>
          <p:cNvSpPr>
            <a:spLocks xmlns:a="http://schemas.openxmlformats.org/drawingml/2006/main" noGrp="1"/>
          </p:cNvSpPr>
          <p:nvPr/>
        </p:nvSpPr>
        <p:spPr>
          <a:xfrm xmlns:a="http://schemas.openxmlformats.org/drawingml/2006/main">
            <a:off x="4257675" y="4429125"/>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11111"/>
                </a:solidFill>
                <a:latin typeface="Arial"/>
                <a:ea typeface="Arial"/>
                <a:cs typeface="Arial"/>
              </a:defRPr>
            </a:defPPr>
          </a:lstStyle>
          <a:p xmlns:a="http://schemas.openxmlformats.org/drawingml/2006/main">
            <a:pPr>
              <a:defRPr sz="1950" b="0">
                <a:solidFill>
                  <a:srgbClr val="111111"/>
                </a:solidFill>
                <a:latin typeface="Arial"/>
                <a:ea typeface="Arial"/>
                <a:cs typeface="Arial"/>
              </a:defRPr>
            </a:pPr>
            <a:r>
              <a:rPr sz="1950" b="0">
                <a:solidFill>
                  <a:srgbClr val="111111"/>
                </a:solidFill>
                <a:latin typeface="Arial"/>
                <a:ea typeface="Arial"/>
                <a:cs typeface="Arial"/>
              </a:rPr>
              <a:t>Start with trusted organizers</a:t>
            </a:r>
          </a:p>
          <a:p xmlns:a="http://schemas.openxmlformats.org/drawingml/2006/main">
            <a:pPr>
              <a:defRPr sz="1950" b="0">
                <a:solidFill>
                  <a:srgbClr val="111111"/>
                </a:solidFill>
                <a:latin typeface="Arial"/>
                <a:ea typeface="Arial"/>
                <a:cs typeface="Arial"/>
              </a:defRPr>
            </a:pPr>
            <a:r>
              <a:rPr sz="1950" b="0">
                <a:solidFill>
                  <a:srgbClr val="111111"/>
                </a:solidFill>
                <a:latin typeface="Arial"/>
                <a:ea typeface="Arial"/>
                <a:cs typeface="Arial"/>
              </a:rPr>
              <a:t>and their own ticket inventory.</a:t>
            </a:r>
          </a:p>
        </p:txBody>
      </p:sp>
      <p:pic>
        <p:nvPicPr>
          <p:cNvPr id="7" name="">
            <a:extLst xmlns:a="http://schemas.openxmlformats.org/drawingml/2006/main">
              <a:ext uri="{FF2B5EF4-FFF2-40B4-BE49-F238E27FC236}">
                <a16:creationId xmlns:a16="http://schemas.microsoft.com/office/drawing/2014/main" id="{7335A57E-7D0A-4305-8AD9-F64EA4F87D9B}"/>
              </a:ext>
            </a:extLst>
          </p:cNvPr>
          <p:cNvPicPr>
            <a:picLocks xmlns:a="http://schemas.openxmlformats.org/drawingml/2006/main" noChangeAspect="1"/>
          </p:cNvPicPr>
          <p:nvPr/>
        </p:nvPicPr>
        <p:blipFill>
          <a:blip xmlns:r="http://schemas.openxmlformats.org/officeDocument/2006/relationships" xmlns:a="http://schemas.openxmlformats.org/drawingml/2006/main" r:embed="R40c00ea0b5214145"/>
          <a:srcRect xmlns:a="http://schemas.openxmlformats.org/drawingml/2006/main" l="12787" t="0" r="12787" b="0"/>
          <a:stretch xmlns:a="http://schemas.openxmlformats.org/drawingml/2006/main">
            <a:fillRect l="0" t="0" r="0" b="0"/>
          </a:stretch>
        </p:blipFill>
        <p:spPr>
          <a:xfrm xmlns:a="http://schemas.openxmlformats.org/drawingml/2006/main">
            <a:off x="7639050" y="2419350"/>
            <a:ext cx="4019550" cy="3600450"/>
          </a:xfrm>
          <a:prstGeom xmlns:a="http://schemas.openxmlformats.org/drawingml/2006/main" prst="rect">
            <a:avLst/>
          </a:prstGeom>
        </p:spPr>
      </p:pic>
    </p:spTree>
    <p:extLst>
      <p:ext uri="{BB962C8B-B14F-4D97-AF65-F5344CB8AC3E}">
        <p14:creationId xmlns:p14="http://schemas.microsoft.com/office/powerpoint/2010/main" val="1693340963"/>
      </p:ext>
    </p:extLst>
  </p:cSld>
</p:sld>
</file>

<file path=ppt/slides/slide4.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6A3F84B-D6D3-4638-BD1E-E893DD605D11}"/>
              </a:ext>
            </a:extLst>
          </p:cNvPr>
          <p:cNvSpPr>
            <a:spLocks xmlns:a="http://schemas.openxmlformats.org/drawingml/2006/main" noGrp="1"/>
          </p:cNvSpPr>
          <p:nvPr/>
        </p:nvSpPr>
        <p:spPr>
          <a:xfrm xmlns:a="http://schemas.openxmlformats.org/drawingml/2006/main">
            <a:off x="533400" y="285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F4F4F0"/>
                </a:solidFill>
                <a:latin typeface="Arial Narrow"/>
                <a:ea typeface="Arial Narrow"/>
                <a:cs typeface="Arial Narrow"/>
              </a:defRPr>
            </a:defPPr>
          </a:lstStyle>
          <a:p xmlns:a="http://schemas.openxmlformats.org/drawingml/2006/main">
            <a:pPr>
              <a:defRPr sz="1800" b="1">
                <a:solidFill>
                  <a:srgbClr val="F4F4F0"/>
                </a:solidFill>
                <a:latin typeface="Arial Narrow"/>
                <a:ea typeface="Arial Narrow"/>
                <a:cs typeface="Arial Narrow"/>
              </a:defRPr>
            </a:pPr>
            <a:r>
              <a:rPr sz="1800" b="1">
                <a:solidFill>
                  <a:srgbClr val="F4F4F0"/>
                </a:solidFill>
                <a:latin typeface="Arial Narrow"/>
                <a:ea typeface="Arial Narrow"/>
                <a:cs typeface="Arial Narrow"/>
              </a:rPr>
              <a:t>T/S®</a:t>
            </a:r>
          </a:p>
        </p:txBody>
      </p:sp>
      <p:sp>
        <p:nvSpPr>
          <p:cNvPr id="2" name="">
            <a:extLst xmlns:a="http://schemas.openxmlformats.org/drawingml/2006/main">
              <a:ext uri="{FF2B5EF4-FFF2-40B4-BE49-F238E27FC236}">
                <a16:creationId xmlns:a16="http://schemas.microsoft.com/office/drawing/2014/main" id="{10C0E1D6-8F38-4ACB-B61D-9843868D7549}"/>
              </a:ext>
            </a:extLst>
          </p:cNvPr>
          <p:cNvSpPr>
            <a:spLocks xmlns:a="http://schemas.openxmlformats.org/drawingml/2006/main" noGrp="1"/>
          </p:cNvSpPr>
          <p:nvPr/>
        </p:nvSpPr>
        <p:spPr>
          <a:xfrm xmlns:a="http://schemas.openxmlformats.org/drawingml/2006/main">
            <a:off x="10782300" y="342900"/>
            <a:ext cx="904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F4F4F0"/>
                </a:solidFill>
                <a:latin typeface="Arial"/>
                <a:ea typeface="Arial"/>
                <a:cs typeface="Arial"/>
              </a:defRPr>
            </a:defPPr>
          </a:lstStyle>
          <a:p xmlns:a="http://schemas.openxmlformats.org/drawingml/2006/main">
            <a:pPr>
              <a:defRPr sz="1050" b="0">
                <a:solidFill>
                  <a:srgbClr val="F4F4F0"/>
                </a:solidFill>
                <a:latin typeface="Arial"/>
                <a:ea typeface="Arial"/>
                <a:cs typeface="Arial"/>
              </a:defRPr>
            </a:pPr>
            <a:r>
              <a:rPr sz="1050" b="0">
                <a:solidFill>
                  <a:srgbClr val="F4F4F0"/>
                </a:solidFill>
                <a:latin typeface="Arial"/>
                <a:ea typeface="Arial"/>
                <a:cs typeface="Arial"/>
              </a:rPr>
              <a:t>04 / 10</a:t>
            </a:r>
          </a:p>
        </p:txBody>
      </p:sp>
      <p:sp>
        <p:nvSpPr>
          <p:cNvPr id="3" name="">
            <a:extLst xmlns:a="http://schemas.openxmlformats.org/drawingml/2006/main">
              <a:ext uri="{FF2B5EF4-FFF2-40B4-BE49-F238E27FC236}">
                <a16:creationId xmlns:a16="http://schemas.microsoft.com/office/drawing/2014/main" id="{81DAA3A4-7B80-406B-A887-CC4F536ADD14}"/>
              </a:ext>
            </a:extLst>
          </p:cNvPr>
          <p:cNvSpPr>
            <a:spLocks xmlns:a="http://schemas.openxmlformats.org/drawingml/2006/main" noGrp="1"/>
          </p:cNvSpPr>
          <p:nvPr/>
        </p:nvSpPr>
        <p:spPr>
          <a:xfrm xmlns:a="http://schemas.openxmlformats.org/drawingml/2006/main">
            <a:off x="533400" y="1047750"/>
            <a:ext cx="1104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350" b="1">
                <a:solidFill>
                  <a:srgbClr val="F4F4F0"/>
                </a:solidFill>
                <a:latin typeface="Arial Narrow"/>
                <a:ea typeface="Arial Narrow"/>
                <a:cs typeface="Arial Narrow"/>
              </a:defRPr>
            </a:defPPr>
          </a:lstStyle>
          <a:p xmlns:a="http://schemas.openxmlformats.org/drawingml/2006/main">
            <a:pPr>
              <a:defRPr sz="4350" b="1">
                <a:solidFill>
                  <a:srgbClr val="F4F4F0"/>
                </a:solidFill>
                <a:latin typeface="Arial Narrow"/>
                <a:ea typeface="Arial Narrow"/>
                <a:cs typeface="Arial Narrow"/>
              </a:defRPr>
            </a:pPr>
            <a:r>
              <a:rPr sz="4350" b="1">
                <a:solidFill>
                  <a:srgbClr val="F4F4F0"/>
                </a:solidFill>
                <a:latin typeface="Arial Narrow"/>
                <a:ea typeface="Arial Narrow"/>
                <a:cs typeface="Arial Narrow"/>
              </a:rPr>
              <a:t>The Ticketsol solution</a:t>
            </a:r>
          </a:p>
        </p:txBody>
      </p:sp>
      <p:sp>
        <p:nvSpPr>
          <p:cNvPr id="4" name="">
            <a:extLst xmlns:a="http://schemas.openxmlformats.org/drawingml/2006/main">
              <a:ext uri="{FF2B5EF4-FFF2-40B4-BE49-F238E27FC236}">
                <a16:creationId xmlns:a16="http://schemas.microsoft.com/office/drawing/2014/main" id="{B015EE88-96EF-43D0-9CAB-169E908C2782}"/>
              </a:ext>
            </a:extLst>
          </p:cNvPr>
          <p:cNvSpPr>
            <a:spLocks xmlns:a="http://schemas.openxmlformats.org/drawingml/2006/main" noGrp="1"/>
          </p:cNvSpPr>
          <p:nvPr/>
        </p:nvSpPr>
        <p:spPr>
          <a:xfrm xmlns:a="http://schemas.openxmlformats.org/drawingml/2006/main">
            <a:off x="533400" y="2647950"/>
            <a:ext cx="161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6600" b="1">
                <a:solidFill>
                  <a:srgbClr val="F4F4F0"/>
                </a:solidFill>
                <a:latin typeface="Arial Narrow"/>
                <a:ea typeface="Arial Narrow"/>
                <a:cs typeface="Arial Narrow"/>
              </a:defRPr>
            </a:defPPr>
          </a:lstStyle>
          <a:p xmlns:a="http://schemas.openxmlformats.org/drawingml/2006/main">
            <a:pPr>
              <a:defRPr sz="6600" b="1">
                <a:solidFill>
                  <a:srgbClr val="F4F4F0"/>
                </a:solidFill>
                <a:latin typeface="Arial Narrow"/>
                <a:ea typeface="Arial Narrow"/>
                <a:cs typeface="Arial Narrow"/>
              </a:defRPr>
            </a:pPr>
            <a:r>
              <a:rPr sz="6600" b="1">
                <a:solidFill>
                  <a:srgbClr val="F4F4F0"/>
                </a:solidFill>
                <a:latin typeface="Arial Narrow"/>
                <a:ea typeface="Arial Narrow"/>
                <a:cs typeface="Arial Narrow"/>
              </a:rPr>
              <a:t>01</a:t>
            </a:r>
          </a:p>
        </p:txBody>
      </p:sp>
      <p:sp>
        <p:nvSpPr>
          <p:cNvPr id="5" name="">
            <a:extLst xmlns:a="http://schemas.openxmlformats.org/drawingml/2006/main">
              <a:ext uri="{FF2B5EF4-FFF2-40B4-BE49-F238E27FC236}">
                <a16:creationId xmlns:a16="http://schemas.microsoft.com/office/drawing/2014/main" id="{2B963B43-AAE2-4CC4-A686-AF30E58F35AF}"/>
              </a:ext>
            </a:extLst>
          </p:cNvPr>
          <p:cNvSpPr>
            <a:spLocks xmlns:a="http://schemas.openxmlformats.org/drawingml/2006/main" noGrp="1"/>
          </p:cNvSpPr>
          <p:nvPr/>
        </p:nvSpPr>
        <p:spPr>
          <a:xfrm xmlns:a="http://schemas.openxmlformats.org/drawingml/2006/main">
            <a:off x="2381250" y="2743200"/>
            <a:ext cx="838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4F4F0"/>
                </a:solidFill>
                <a:latin typeface="Arial"/>
                <a:ea typeface="Arial"/>
                <a:cs typeface="Arial"/>
              </a:defRPr>
            </a:defPPr>
          </a:lstStyle>
          <a:p xmlns:a="http://schemas.openxmlformats.org/drawingml/2006/main">
            <a:pPr>
              <a:defRPr sz="2850" b="1">
                <a:solidFill>
                  <a:srgbClr val="F4F4F0"/>
                </a:solidFill>
                <a:latin typeface="Arial"/>
                <a:ea typeface="Arial"/>
                <a:cs typeface="Arial"/>
              </a:defRPr>
            </a:pPr>
            <a:r>
              <a:rPr sz="2850" b="1">
                <a:solidFill>
                  <a:srgbClr val="F4F4F0"/>
                </a:solidFill>
                <a:latin typeface="Arial"/>
                <a:ea typeface="Arial"/>
                <a:cs typeface="Arial"/>
              </a:rPr>
              <a:t>Verifiable ownership</a:t>
            </a:r>
          </a:p>
        </p:txBody>
      </p:sp>
      <p:sp>
        <p:nvSpPr>
          <p:cNvPr id="6" name="">
            <a:extLst xmlns:a="http://schemas.openxmlformats.org/drawingml/2006/main">
              <a:ext uri="{FF2B5EF4-FFF2-40B4-BE49-F238E27FC236}">
                <a16:creationId xmlns:a16="http://schemas.microsoft.com/office/drawing/2014/main" id="{360F06DE-D926-4480-9C75-41A5CC976788}"/>
              </a:ext>
            </a:extLst>
          </p:cNvPr>
          <p:cNvSpPr>
            <a:spLocks xmlns:a="http://schemas.openxmlformats.org/drawingml/2006/main" noGrp="1"/>
          </p:cNvSpPr>
          <p:nvPr/>
        </p:nvSpPr>
        <p:spPr>
          <a:xfrm xmlns:a="http://schemas.openxmlformats.org/drawingml/2006/main">
            <a:off x="2381250" y="3362325"/>
            <a:ext cx="866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F4F4F0"/>
                </a:solidFill>
                <a:latin typeface="Arial"/>
                <a:ea typeface="Arial"/>
                <a:cs typeface="Arial"/>
              </a:defRPr>
            </a:defPPr>
          </a:lstStyle>
          <a:p xmlns:a="http://schemas.openxmlformats.org/drawingml/2006/main">
            <a:pPr>
              <a:defRPr sz="1950" b="0">
                <a:solidFill>
                  <a:srgbClr val="F4F4F0"/>
                </a:solidFill>
                <a:latin typeface="Arial"/>
                <a:ea typeface="Arial"/>
                <a:cs typeface="Arial"/>
              </a:defRPr>
            </a:pPr>
            <a:r>
              <a:rPr sz="1950" b="0">
                <a:solidFill>
                  <a:srgbClr val="F4F4F0"/>
                </a:solidFill>
                <a:latin typeface="Arial"/>
                <a:ea typeface="Arial"/>
                <a:cs typeface="Arial"/>
              </a:rPr>
              <a:t>The ticket record identifies its current owner and admission status.</a:t>
            </a:r>
          </a:p>
        </p:txBody>
      </p:sp>
      <p:sp>
        <p:nvSpPr>
          <p:cNvPr id="7" name="">
            <a:extLst xmlns:a="http://schemas.openxmlformats.org/drawingml/2006/main">
              <a:ext uri="{FF2B5EF4-FFF2-40B4-BE49-F238E27FC236}">
                <a16:creationId xmlns:a16="http://schemas.microsoft.com/office/drawing/2014/main" id="{043BF8CB-0EC8-4E37-AF21-4D1BF2358329}"/>
              </a:ext>
            </a:extLst>
          </p:cNvPr>
          <p:cNvSpPr>
            <a:spLocks xmlns:a="http://schemas.openxmlformats.org/drawingml/2006/main" noGrp="1"/>
          </p:cNvSpPr>
          <p:nvPr/>
        </p:nvSpPr>
        <p:spPr>
          <a:xfrm xmlns:a="http://schemas.openxmlformats.org/drawingml/2006/main">
            <a:off x="533400" y="4333875"/>
            <a:ext cx="161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6600" b="1">
                <a:solidFill>
                  <a:srgbClr val="F4F4F0"/>
                </a:solidFill>
                <a:latin typeface="Arial Narrow"/>
                <a:ea typeface="Arial Narrow"/>
                <a:cs typeface="Arial Narrow"/>
              </a:defRPr>
            </a:defPPr>
          </a:lstStyle>
          <a:p xmlns:a="http://schemas.openxmlformats.org/drawingml/2006/main">
            <a:pPr>
              <a:defRPr sz="6600" b="1">
                <a:solidFill>
                  <a:srgbClr val="F4F4F0"/>
                </a:solidFill>
                <a:latin typeface="Arial Narrow"/>
                <a:ea typeface="Arial Narrow"/>
                <a:cs typeface="Arial Narrow"/>
              </a:defRPr>
            </a:pPr>
            <a:r>
              <a:rPr sz="6600" b="1">
                <a:solidFill>
                  <a:srgbClr val="F4F4F0"/>
                </a:solidFill>
                <a:latin typeface="Arial Narrow"/>
                <a:ea typeface="Arial Narrow"/>
                <a:cs typeface="Arial Narrow"/>
              </a:rPr>
              <a:t>02</a:t>
            </a:r>
          </a:p>
        </p:txBody>
      </p:sp>
      <p:sp>
        <p:nvSpPr>
          <p:cNvPr id="8" name="">
            <a:extLst xmlns:a="http://schemas.openxmlformats.org/drawingml/2006/main">
              <a:ext uri="{FF2B5EF4-FFF2-40B4-BE49-F238E27FC236}">
                <a16:creationId xmlns:a16="http://schemas.microsoft.com/office/drawing/2014/main" id="{3C4DA06D-E46D-468B-895B-2544C70A76C6}"/>
              </a:ext>
            </a:extLst>
          </p:cNvPr>
          <p:cNvSpPr>
            <a:spLocks xmlns:a="http://schemas.openxmlformats.org/drawingml/2006/main" noGrp="1"/>
          </p:cNvSpPr>
          <p:nvPr/>
        </p:nvSpPr>
        <p:spPr>
          <a:xfrm xmlns:a="http://schemas.openxmlformats.org/drawingml/2006/main">
            <a:off x="2381250" y="4429125"/>
            <a:ext cx="838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4F4F0"/>
                </a:solidFill>
                <a:latin typeface="Arial"/>
                <a:ea typeface="Arial"/>
                <a:cs typeface="Arial"/>
              </a:defRPr>
            </a:defPPr>
          </a:lstStyle>
          <a:p xmlns:a="http://schemas.openxmlformats.org/drawingml/2006/main">
            <a:pPr>
              <a:defRPr sz="2850" b="1">
                <a:solidFill>
                  <a:srgbClr val="F4F4F0"/>
                </a:solidFill>
                <a:latin typeface="Arial"/>
                <a:ea typeface="Arial"/>
                <a:cs typeface="Arial"/>
              </a:defRPr>
            </a:pPr>
            <a:r>
              <a:rPr sz="2850" b="1">
                <a:solidFill>
                  <a:srgbClr val="F4F4F0"/>
                </a:solidFill>
                <a:latin typeface="Arial"/>
                <a:ea typeface="Arial"/>
                <a:cs typeface="Arial"/>
              </a:rPr>
              <a:t>Controlled resale</a:t>
            </a:r>
          </a:p>
        </p:txBody>
      </p:sp>
      <p:sp>
        <p:nvSpPr>
          <p:cNvPr id="9" name="">
            <a:extLst xmlns:a="http://schemas.openxmlformats.org/drawingml/2006/main">
              <a:ext uri="{FF2B5EF4-FFF2-40B4-BE49-F238E27FC236}">
                <a16:creationId xmlns:a16="http://schemas.microsoft.com/office/drawing/2014/main" id="{D764A384-30F6-4E31-9E70-2FC82F13BA70}"/>
              </a:ext>
            </a:extLst>
          </p:cNvPr>
          <p:cNvSpPr>
            <a:spLocks xmlns:a="http://schemas.openxmlformats.org/drawingml/2006/main" noGrp="1"/>
          </p:cNvSpPr>
          <p:nvPr/>
        </p:nvSpPr>
        <p:spPr>
          <a:xfrm xmlns:a="http://schemas.openxmlformats.org/drawingml/2006/main">
            <a:off x="2381250" y="5048250"/>
            <a:ext cx="866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F4F4F0"/>
                </a:solidFill>
                <a:latin typeface="Arial"/>
                <a:ea typeface="Arial"/>
                <a:cs typeface="Arial"/>
              </a:defRPr>
            </a:defPPr>
          </a:lstStyle>
          <a:p xmlns:a="http://schemas.openxmlformats.org/drawingml/2006/main">
            <a:pPr>
              <a:defRPr sz="1950" b="0">
                <a:solidFill>
                  <a:srgbClr val="F4F4F0"/>
                </a:solidFill>
                <a:latin typeface="Arial"/>
                <a:ea typeface="Arial"/>
                <a:cs typeface="Arial"/>
              </a:defRPr>
            </a:pPr>
            <a:r>
              <a:rPr sz="1950" b="0">
                <a:solidFill>
                  <a:srgbClr val="F4F4F0"/>
                </a:solidFill>
                <a:latin typeface="Arial"/>
                <a:ea typeface="Arial"/>
                <a:cs typeface="Arial"/>
              </a:rPr>
              <a:t>The program transfers payment and ownership together.</a:t>
            </a:r>
          </a:p>
          <a:p xmlns:a="http://schemas.openxmlformats.org/drawingml/2006/main">
            <a:pPr>
              <a:defRPr sz="1950" b="0">
                <a:solidFill>
                  <a:srgbClr val="F4F4F0"/>
                </a:solidFill>
                <a:latin typeface="Arial"/>
                <a:ea typeface="Arial"/>
                <a:cs typeface="Arial"/>
              </a:defRPr>
            </a:pPr>
            <a:r>
              <a:rPr sz="1950" b="0">
                <a:solidFill>
                  <a:srgbClr val="F4F4F0"/>
                </a:solidFill>
                <a:latin typeface="Arial"/>
                <a:ea typeface="Arial"/>
                <a:cs typeface="Arial"/>
              </a:rPr>
              <a:t>The MVP caps resale at the original price.</a:t>
            </a:r>
          </a:p>
        </p:txBody>
      </p:sp>
    </p:spTree>
    <p:extLst>
      <p:ext uri="{BB962C8B-B14F-4D97-AF65-F5344CB8AC3E}">
        <p14:creationId xmlns:p14="http://schemas.microsoft.com/office/powerpoint/2010/main" val="825037870"/>
      </p:ext>
    </p:extLst>
  </p:cSld>
</p:sld>
</file>

<file path=ppt/slides/slide5.xml><?xml version="1.0" encoding="utf-8"?>
<p:sld xmlns:p="http://schemas.openxmlformats.org/presentationml/2006/main">
  <p:cSld>
    <p:bg>
      <p:bgPr>
        <a:solidFill xmlns:a="http://schemas.openxmlformats.org/drawingml/2006/main">
          <a:srgbClr val="F4F4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FCE1164-5853-4B4E-A7FC-7804CD33801E}"/>
              </a:ext>
            </a:extLst>
          </p:cNvPr>
          <p:cNvSpPr>
            <a:spLocks xmlns:a="http://schemas.openxmlformats.org/drawingml/2006/main" noGrp="1"/>
          </p:cNvSpPr>
          <p:nvPr/>
        </p:nvSpPr>
        <p:spPr>
          <a:xfrm xmlns:a="http://schemas.openxmlformats.org/drawingml/2006/main">
            <a:off x="533400" y="285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11111"/>
                </a:solidFill>
                <a:latin typeface="Arial Narrow"/>
                <a:ea typeface="Arial Narrow"/>
                <a:cs typeface="Arial Narrow"/>
              </a:defRPr>
            </a:defPPr>
          </a:lstStyle>
          <a:p xmlns:a="http://schemas.openxmlformats.org/drawingml/2006/main">
            <a:pPr>
              <a:defRPr sz="1800" b="1">
                <a:solidFill>
                  <a:srgbClr val="111111"/>
                </a:solidFill>
                <a:latin typeface="Arial Narrow"/>
                <a:ea typeface="Arial Narrow"/>
                <a:cs typeface="Arial Narrow"/>
              </a:defRPr>
            </a:pPr>
            <a:r>
              <a:rPr sz="1800" b="1">
                <a:solidFill>
                  <a:srgbClr val="111111"/>
                </a:solidFill>
                <a:latin typeface="Arial Narrow"/>
                <a:ea typeface="Arial Narrow"/>
                <a:cs typeface="Arial Narrow"/>
              </a:rPr>
              <a:t>T/S®</a:t>
            </a:r>
          </a:p>
        </p:txBody>
      </p:sp>
      <p:sp>
        <p:nvSpPr>
          <p:cNvPr id="2" name="">
            <a:extLst xmlns:a="http://schemas.openxmlformats.org/drawingml/2006/main">
              <a:ext uri="{FF2B5EF4-FFF2-40B4-BE49-F238E27FC236}">
                <a16:creationId xmlns:a16="http://schemas.microsoft.com/office/drawing/2014/main" id="{3F0933CC-FD9A-497C-898D-AB6CD9E23659}"/>
              </a:ext>
            </a:extLst>
          </p:cNvPr>
          <p:cNvSpPr>
            <a:spLocks xmlns:a="http://schemas.openxmlformats.org/drawingml/2006/main" noGrp="1"/>
          </p:cNvSpPr>
          <p:nvPr/>
        </p:nvSpPr>
        <p:spPr>
          <a:xfrm xmlns:a="http://schemas.openxmlformats.org/drawingml/2006/main">
            <a:off x="10782300" y="342900"/>
            <a:ext cx="904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75756F"/>
                </a:solidFill>
                <a:latin typeface="Arial"/>
                <a:ea typeface="Arial"/>
                <a:cs typeface="Arial"/>
              </a:defRPr>
            </a:defPPr>
          </a:lstStyle>
          <a:p xmlns:a="http://schemas.openxmlformats.org/drawingml/2006/main">
            <a:pPr>
              <a:defRPr sz="1050" b="0">
                <a:solidFill>
                  <a:srgbClr val="75756F"/>
                </a:solidFill>
                <a:latin typeface="Arial"/>
                <a:ea typeface="Arial"/>
                <a:cs typeface="Arial"/>
              </a:defRPr>
            </a:pPr>
            <a:r>
              <a:rPr sz="1050" b="0">
                <a:solidFill>
                  <a:srgbClr val="75756F"/>
                </a:solidFill>
                <a:latin typeface="Arial"/>
                <a:ea typeface="Arial"/>
                <a:cs typeface="Arial"/>
              </a:rPr>
              <a:t>05 / 10</a:t>
            </a:r>
          </a:p>
        </p:txBody>
      </p:sp>
      <p:sp>
        <p:nvSpPr>
          <p:cNvPr id="3" name="">
            <a:extLst xmlns:a="http://schemas.openxmlformats.org/drawingml/2006/main">
              <a:ext uri="{FF2B5EF4-FFF2-40B4-BE49-F238E27FC236}">
                <a16:creationId xmlns:a16="http://schemas.microsoft.com/office/drawing/2014/main" id="{38D87655-2DAE-4DC1-AFE4-D79B47469AB7}"/>
              </a:ext>
            </a:extLst>
          </p:cNvPr>
          <p:cNvSpPr>
            <a:spLocks xmlns:a="http://schemas.openxmlformats.org/drawingml/2006/main" noGrp="1"/>
          </p:cNvSpPr>
          <p:nvPr/>
        </p:nvSpPr>
        <p:spPr>
          <a:xfrm xmlns:a="http://schemas.openxmlformats.org/drawingml/2006/main">
            <a:off x="533400" y="1047750"/>
            <a:ext cx="1104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350" b="1">
                <a:solidFill>
                  <a:srgbClr val="111111"/>
                </a:solidFill>
                <a:latin typeface="Arial Narrow"/>
                <a:ea typeface="Arial Narrow"/>
                <a:cs typeface="Arial Narrow"/>
              </a:defRPr>
            </a:defPPr>
          </a:lstStyle>
          <a:p xmlns:a="http://schemas.openxmlformats.org/drawingml/2006/main">
            <a:pPr>
              <a:defRPr sz="4350" b="1">
                <a:solidFill>
                  <a:srgbClr val="111111"/>
                </a:solidFill>
                <a:latin typeface="Arial Narrow"/>
                <a:ea typeface="Arial Narrow"/>
                <a:cs typeface="Arial Narrow"/>
              </a:defRPr>
            </a:pPr>
            <a:r>
              <a:rPr sz="4350" b="1">
                <a:solidFill>
                  <a:srgbClr val="111111"/>
                </a:solidFill>
                <a:latin typeface="Arial Narrow"/>
                <a:ea typeface="Arial Narrow"/>
                <a:cs typeface="Arial Narrow"/>
              </a:rPr>
              <a:t>The buyer journey</a:t>
            </a:r>
          </a:p>
        </p:txBody>
      </p:sp>
      <p:sp>
        <p:nvSpPr>
          <p:cNvPr id="4" name="">
            <a:extLst xmlns:a="http://schemas.openxmlformats.org/drawingml/2006/main">
              <a:ext uri="{FF2B5EF4-FFF2-40B4-BE49-F238E27FC236}">
                <a16:creationId xmlns:a16="http://schemas.microsoft.com/office/drawing/2014/main" id="{79F54B43-9357-4C0F-9345-F49BF082C6E5}"/>
              </a:ext>
            </a:extLst>
          </p:cNvPr>
          <p:cNvSpPr>
            <a:spLocks xmlns:a="http://schemas.openxmlformats.org/drawingml/2006/main" noGrp="1"/>
          </p:cNvSpPr>
          <p:nvPr/>
        </p:nvSpPr>
        <p:spPr>
          <a:xfrm xmlns:a="http://schemas.openxmlformats.org/drawingml/2006/main">
            <a:off x="533400" y="264795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6750" b="1">
                <a:solidFill>
                  <a:srgbClr val="111111"/>
                </a:solidFill>
                <a:latin typeface="Arial Narrow"/>
                <a:ea typeface="Arial Narrow"/>
                <a:cs typeface="Arial Narrow"/>
              </a:defRPr>
            </a:defPPr>
          </a:lstStyle>
          <a:p xmlns:a="http://schemas.openxmlformats.org/drawingml/2006/main">
            <a:pPr>
              <a:defRPr sz="6750" b="1">
                <a:solidFill>
                  <a:srgbClr val="111111"/>
                </a:solidFill>
                <a:latin typeface="Arial Narrow"/>
                <a:ea typeface="Arial Narrow"/>
                <a:cs typeface="Arial Narrow"/>
              </a:defRPr>
            </a:pPr>
            <a:r>
              <a:rPr sz="6750" b="1">
                <a:solidFill>
                  <a:srgbClr val="111111"/>
                </a:solidFill>
                <a:latin typeface="Arial Narrow"/>
                <a:ea typeface="Arial Narrow"/>
                <a:cs typeface="Arial Narrow"/>
              </a:rPr>
              <a:t>01</a:t>
            </a:r>
          </a:p>
        </p:txBody>
      </p:sp>
      <p:sp>
        <p:nvSpPr>
          <p:cNvPr id="5" name="">
            <a:extLst xmlns:a="http://schemas.openxmlformats.org/drawingml/2006/main">
              <a:ext uri="{FF2B5EF4-FFF2-40B4-BE49-F238E27FC236}">
                <a16:creationId xmlns:a16="http://schemas.microsoft.com/office/drawing/2014/main" id="{4A977A97-BEEC-4AB7-85D7-BD1E9FF94219}"/>
              </a:ext>
            </a:extLst>
          </p:cNvPr>
          <p:cNvSpPr>
            <a:spLocks xmlns:a="http://schemas.openxmlformats.org/drawingml/2006/main" noGrp="1"/>
          </p:cNvSpPr>
          <p:nvPr/>
        </p:nvSpPr>
        <p:spPr>
          <a:xfrm xmlns:a="http://schemas.openxmlformats.org/drawingml/2006/main">
            <a:off x="533400" y="39052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11111"/>
                </a:solidFill>
                <a:latin typeface="Arial"/>
                <a:ea typeface="Arial"/>
                <a:cs typeface="Arial"/>
              </a:defRPr>
            </a:defPPr>
          </a:lstStyle>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Discover</a:t>
            </a:r>
          </a:p>
        </p:txBody>
      </p:sp>
      <p:sp>
        <p:nvSpPr>
          <p:cNvPr id="6" name="">
            <a:extLst xmlns:a="http://schemas.openxmlformats.org/drawingml/2006/main">
              <a:ext uri="{FF2B5EF4-FFF2-40B4-BE49-F238E27FC236}">
                <a16:creationId xmlns:a16="http://schemas.microsoft.com/office/drawing/2014/main" id="{5C1EF6E5-2A16-40EE-8801-4ED26F9A878A}"/>
              </a:ext>
            </a:extLst>
          </p:cNvPr>
          <p:cNvSpPr>
            <a:spLocks xmlns:a="http://schemas.openxmlformats.org/drawingml/2006/main" noGrp="1"/>
          </p:cNvSpPr>
          <p:nvPr/>
        </p:nvSpPr>
        <p:spPr>
          <a:xfrm xmlns:a="http://schemas.openxmlformats.org/drawingml/2006/main">
            <a:off x="533400" y="4591050"/>
            <a:ext cx="238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Search by event,</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city or genre.</a:t>
            </a:r>
          </a:p>
        </p:txBody>
      </p:sp>
      <p:sp>
        <p:nvSpPr>
          <p:cNvPr id="7" name="">
            <a:extLst xmlns:a="http://schemas.openxmlformats.org/drawingml/2006/main">
              <a:ext uri="{FF2B5EF4-FFF2-40B4-BE49-F238E27FC236}">
                <a16:creationId xmlns:a16="http://schemas.microsoft.com/office/drawing/2014/main" id="{08170D69-554F-4DAF-8837-25D3F5CA419D}"/>
              </a:ext>
            </a:extLst>
          </p:cNvPr>
          <p:cNvSpPr>
            <a:spLocks xmlns:a="http://schemas.openxmlformats.org/drawingml/2006/main" noGrp="1"/>
          </p:cNvSpPr>
          <p:nvPr/>
        </p:nvSpPr>
        <p:spPr>
          <a:xfrm xmlns:a="http://schemas.openxmlformats.org/drawingml/2006/main">
            <a:off x="3438525" y="264795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6750" b="1">
                <a:solidFill>
                  <a:srgbClr val="111111"/>
                </a:solidFill>
                <a:latin typeface="Arial Narrow"/>
                <a:ea typeface="Arial Narrow"/>
                <a:cs typeface="Arial Narrow"/>
              </a:defRPr>
            </a:defPPr>
          </a:lstStyle>
          <a:p xmlns:a="http://schemas.openxmlformats.org/drawingml/2006/main">
            <a:pPr>
              <a:defRPr sz="6750" b="1">
                <a:solidFill>
                  <a:srgbClr val="111111"/>
                </a:solidFill>
                <a:latin typeface="Arial Narrow"/>
                <a:ea typeface="Arial Narrow"/>
                <a:cs typeface="Arial Narrow"/>
              </a:defRPr>
            </a:pPr>
            <a:r>
              <a:rPr sz="6750" b="1">
                <a:solidFill>
                  <a:srgbClr val="111111"/>
                </a:solidFill>
                <a:latin typeface="Arial Narrow"/>
                <a:ea typeface="Arial Narrow"/>
                <a:cs typeface="Arial Narrow"/>
              </a:rPr>
              <a:t>02</a:t>
            </a:r>
          </a:p>
        </p:txBody>
      </p:sp>
      <p:sp>
        <p:nvSpPr>
          <p:cNvPr id="8" name="">
            <a:extLst xmlns:a="http://schemas.openxmlformats.org/drawingml/2006/main">
              <a:ext uri="{FF2B5EF4-FFF2-40B4-BE49-F238E27FC236}">
                <a16:creationId xmlns:a16="http://schemas.microsoft.com/office/drawing/2014/main" id="{3410F8F8-5E0C-4056-AF64-565AC24FB8E8}"/>
              </a:ext>
            </a:extLst>
          </p:cNvPr>
          <p:cNvSpPr>
            <a:spLocks xmlns:a="http://schemas.openxmlformats.org/drawingml/2006/main" noGrp="1"/>
          </p:cNvSpPr>
          <p:nvPr/>
        </p:nvSpPr>
        <p:spPr>
          <a:xfrm xmlns:a="http://schemas.openxmlformats.org/drawingml/2006/main">
            <a:off x="3438525" y="39052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11111"/>
                </a:solidFill>
                <a:latin typeface="Arial"/>
                <a:ea typeface="Arial"/>
                <a:cs typeface="Arial"/>
              </a:defRPr>
            </a:defPPr>
          </a:lstStyle>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Buy</a:t>
            </a:r>
          </a:p>
        </p:txBody>
      </p:sp>
      <p:sp>
        <p:nvSpPr>
          <p:cNvPr id="9" name="">
            <a:extLst xmlns:a="http://schemas.openxmlformats.org/drawingml/2006/main">
              <a:ext uri="{FF2B5EF4-FFF2-40B4-BE49-F238E27FC236}">
                <a16:creationId xmlns:a16="http://schemas.microsoft.com/office/drawing/2014/main" id="{14E60C9E-75DB-4E3D-97DF-9EB0D6FA3C0D}"/>
              </a:ext>
            </a:extLst>
          </p:cNvPr>
          <p:cNvSpPr>
            <a:spLocks xmlns:a="http://schemas.openxmlformats.org/drawingml/2006/main" noGrp="1"/>
          </p:cNvSpPr>
          <p:nvPr/>
        </p:nvSpPr>
        <p:spPr>
          <a:xfrm xmlns:a="http://schemas.openxmlformats.org/drawingml/2006/main">
            <a:off x="3438525" y="4591050"/>
            <a:ext cx="238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Connect Phantom</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and confirm the</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purchase.</a:t>
            </a:r>
          </a:p>
        </p:txBody>
      </p:sp>
      <p:sp>
        <p:nvSpPr>
          <p:cNvPr id="10" name="">
            <a:extLst xmlns:a="http://schemas.openxmlformats.org/drawingml/2006/main">
              <a:ext uri="{FF2B5EF4-FFF2-40B4-BE49-F238E27FC236}">
                <a16:creationId xmlns:a16="http://schemas.microsoft.com/office/drawing/2014/main" id="{763CFFDE-40F7-4CA2-92D9-6C6D513B3B6D}"/>
              </a:ext>
            </a:extLst>
          </p:cNvPr>
          <p:cNvSpPr>
            <a:spLocks xmlns:a="http://schemas.openxmlformats.org/drawingml/2006/main" noGrp="1"/>
          </p:cNvSpPr>
          <p:nvPr/>
        </p:nvSpPr>
        <p:spPr>
          <a:xfrm xmlns:a="http://schemas.openxmlformats.org/drawingml/2006/main">
            <a:off x="6343650" y="264795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6750" b="1">
                <a:solidFill>
                  <a:srgbClr val="111111"/>
                </a:solidFill>
                <a:latin typeface="Arial Narrow"/>
                <a:ea typeface="Arial Narrow"/>
                <a:cs typeface="Arial Narrow"/>
              </a:defRPr>
            </a:defPPr>
          </a:lstStyle>
          <a:p xmlns:a="http://schemas.openxmlformats.org/drawingml/2006/main">
            <a:pPr>
              <a:defRPr sz="6750" b="1">
                <a:solidFill>
                  <a:srgbClr val="111111"/>
                </a:solidFill>
                <a:latin typeface="Arial Narrow"/>
                <a:ea typeface="Arial Narrow"/>
                <a:cs typeface="Arial Narrow"/>
              </a:defRPr>
            </a:pPr>
            <a:r>
              <a:rPr sz="6750" b="1">
                <a:solidFill>
                  <a:srgbClr val="111111"/>
                </a:solidFill>
                <a:latin typeface="Arial Narrow"/>
                <a:ea typeface="Arial Narrow"/>
                <a:cs typeface="Arial Narrow"/>
              </a:rPr>
              <a:t>03</a:t>
            </a:r>
          </a:p>
        </p:txBody>
      </p:sp>
      <p:sp>
        <p:nvSpPr>
          <p:cNvPr id="11" name="">
            <a:extLst xmlns:a="http://schemas.openxmlformats.org/drawingml/2006/main">
              <a:ext uri="{FF2B5EF4-FFF2-40B4-BE49-F238E27FC236}">
                <a16:creationId xmlns:a16="http://schemas.microsoft.com/office/drawing/2014/main" id="{C5D16F8D-E956-46E3-A5FC-56DF1C56BD6A}"/>
              </a:ext>
            </a:extLst>
          </p:cNvPr>
          <p:cNvSpPr>
            <a:spLocks xmlns:a="http://schemas.openxmlformats.org/drawingml/2006/main" noGrp="1"/>
          </p:cNvSpPr>
          <p:nvPr/>
        </p:nvSpPr>
        <p:spPr>
          <a:xfrm xmlns:a="http://schemas.openxmlformats.org/drawingml/2006/main">
            <a:off x="6343650" y="39052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11111"/>
                </a:solidFill>
                <a:latin typeface="Arial"/>
                <a:ea typeface="Arial"/>
                <a:cs typeface="Arial"/>
              </a:defRPr>
            </a:defPPr>
          </a:lstStyle>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Resell</a:t>
            </a:r>
          </a:p>
        </p:txBody>
      </p:sp>
      <p:sp>
        <p:nvSpPr>
          <p:cNvPr id="12" name="">
            <a:extLst xmlns:a="http://schemas.openxmlformats.org/drawingml/2006/main">
              <a:ext uri="{FF2B5EF4-FFF2-40B4-BE49-F238E27FC236}">
                <a16:creationId xmlns:a16="http://schemas.microsoft.com/office/drawing/2014/main" id="{A9755D66-60E6-419A-BCB0-D4295EF34C40}"/>
              </a:ext>
            </a:extLst>
          </p:cNvPr>
          <p:cNvSpPr>
            <a:spLocks xmlns:a="http://schemas.openxmlformats.org/drawingml/2006/main" noGrp="1"/>
          </p:cNvSpPr>
          <p:nvPr/>
        </p:nvSpPr>
        <p:spPr>
          <a:xfrm xmlns:a="http://schemas.openxmlformats.org/drawingml/2006/main">
            <a:off x="6343650" y="4591050"/>
            <a:ext cx="238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List at or below</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the original price.</a:t>
            </a:r>
          </a:p>
        </p:txBody>
      </p:sp>
      <p:sp>
        <p:nvSpPr>
          <p:cNvPr id="13" name="">
            <a:extLst xmlns:a="http://schemas.openxmlformats.org/drawingml/2006/main">
              <a:ext uri="{FF2B5EF4-FFF2-40B4-BE49-F238E27FC236}">
                <a16:creationId xmlns:a16="http://schemas.microsoft.com/office/drawing/2014/main" id="{4DD4DBFC-D8F5-46F2-95A2-86DBF8EBC2CF}"/>
              </a:ext>
            </a:extLst>
          </p:cNvPr>
          <p:cNvSpPr>
            <a:spLocks xmlns:a="http://schemas.openxmlformats.org/drawingml/2006/main" noGrp="1"/>
          </p:cNvSpPr>
          <p:nvPr/>
        </p:nvSpPr>
        <p:spPr>
          <a:xfrm xmlns:a="http://schemas.openxmlformats.org/drawingml/2006/main">
            <a:off x="9248775" y="264795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6750" b="1">
                <a:solidFill>
                  <a:srgbClr val="111111"/>
                </a:solidFill>
                <a:latin typeface="Arial Narrow"/>
                <a:ea typeface="Arial Narrow"/>
                <a:cs typeface="Arial Narrow"/>
              </a:defRPr>
            </a:defPPr>
          </a:lstStyle>
          <a:p xmlns:a="http://schemas.openxmlformats.org/drawingml/2006/main">
            <a:pPr>
              <a:defRPr sz="6750" b="1">
                <a:solidFill>
                  <a:srgbClr val="111111"/>
                </a:solidFill>
                <a:latin typeface="Arial Narrow"/>
                <a:ea typeface="Arial Narrow"/>
                <a:cs typeface="Arial Narrow"/>
              </a:defRPr>
            </a:pPr>
            <a:r>
              <a:rPr sz="6750" b="1">
                <a:solidFill>
                  <a:srgbClr val="111111"/>
                </a:solidFill>
                <a:latin typeface="Arial Narrow"/>
                <a:ea typeface="Arial Narrow"/>
                <a:cs typeface="Arial Narrow"/>
              </a:rPr>
              <a:t>04</a:t>
            </a:r>
          </a:p>
        </p:txBody>
      </p:sp>
      <p:sp>
        <p:nvSpPr>
          <p:cNvPr id="14" name="">
            <a:extLst xmlns:a="http://schemas.openxmlformats.org/drawingml/2006/main">
              <a:ext uri="{FF2B5EF4-FFF2-40B4-BE49-F238E27FC236}">
                <a16:creationId xmlns:a16="http://schemas.microsoft.com/office/drawing/2014/main" id="{86EEB5DB-2BA6-49CA-86A4-282C80EF842D}"/>
              </a:ext>
            </a:extLst>
          </p:cNvPr>
          <p:cNvSpPr>
            <a:spLocks xmlns:a="http://schemas.openxmlformats.org/drawingml/2006/main" noGrp="1"/>
          </p:cNvSpPr>
          <p:nvPr/>
        </p:nvSpPr>
        <p:spPr>
          <a:xfrm xmlns:a="http://schemas.openxmlformats.org/drawingml/2006/main">
            <a:off x="9248775" y="39052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11111"/>
                </a:solidFill>
                <a:latin typeface="Arial"/>
                <a:ea typeface="Arial"/>
                <a:cs typeface="Arial"/>
              </a:defRPr>
            </a:defPPr>
          </a:lstStyle>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Enter</a:t>
            </a:r>
          </a:p>
        </p:txBody>
      </p:sp>
      <p:sp>
        <p:nvSpPr>
          <p:cNvPr id="15" name="">
            <a:extLst xmlns:a="http://schemas.openxmlformats.org/drawingml/2006/main">
              <a:ext uri="{FF2B5EF4-FFF2-40B4-BE49-F238E27FC236}">
                <a16:creationId xmlns:a16="http://schemas.microsoft.com/office/drawing/2014/main" id="{E84EC810-30B9-42CD-90F7-24303FECF848}"/>
              </a:ext>
            </a:extLst>
          </p:cNvPr>
          <p:cNvSpPr>
            <a:spLocks xmlns:a="http://schemas.openxmlformats.org/drawingml/2006/main" noGrp="1"/>
          </p:cNvSpPr>
          <p:nvPr/>
        </p:nvSpPr>
        <p:spPr>
          <a:xfrm xmlns:a="http://schemas.openxmlformats.org/drawingml/2006/main">
            <a:off x="9248775" y="4591050"/>
            <a:ext cx="238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Open the QR</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verification page</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at the venue.</a:t>
            </a:r>
          </a:p>
        </p:txBody>
      </p:sp>
    </p:spTree>
    <p:extLst>
      <p:ext uri="{BB962C8B-B14F-4D97-AF65-F5344CB8AC3E}">
        <p14:creationId xmlns:p14="http://schemas.microsoft.com/office/powerpoint/2010/main" val="486888593"/>
      </p:ext>
    </p:extLst>
  </p:cSld>
</p:sld>
</file>

<file path=ppt/slides/slide6.xml><?xml version="1.0" encoding="utf-8"?>
<p:sld xmlns:p="http://schemas.openxmlformats.org/presentationml/2006/main">
  <p:cSld>
    <p:bg>
      <p:bgPr>
        <a:solidFill xmlns:a="http://schemas.openxmlformats.org/drawingml/2006/main">
          <a:srgbClr val="F4F4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D1D5A0-5843-461C-BCFE-95BE6B1292F6}"/>
              </a:ext>
            </a:extLst>
          </p:cNvPr>
          <p:cNvSpPr>
            <a:spLocks xmlns:a="http://schemas.openxmlformats.org/drawingml/2006/main" noGrp="1"/>
          </p:cNvSpPr>
          <p:nvPr/>
        </p:nvSpPr>
        <p:spPr>
          <a:xfrm xmlns:a="http://schemas.openxmlformats.org/drawingml/2006/main">
            <a:off x="533400" y="285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11111"/>
                </a:solidFill>
                <a:latin typeface="Arial Narrow"/>
                <a:ea typeface="Arial Narrow"/>
                <a:cs typeface="Arial Narrow"/>
              </a:defRPr>
            </a:defPPr>
          </a:lstStyle>
          <a:p xmlns:a="http://schemas.openxmlformats.org/drawingml/2006/main">
            <a:pPr>
              <a:defRPr sz="1800" b="1">
                <a:solidFill>
                  <a:srgbClr val="111111"/>
                </a:solidFill>
                <a:latin typeface="Arial Narrow"/>
                <a:ea typeface="Arial Narrow"/>
                <a:cs typeface="Arial Narrow"/>
              </a:defRPr>
            </a:pPr>
            <a:r>
              <a:rPr sz="1800" b="1">
                <a:solidFill>
                  <a:srgbClr val="111111"/>
                </a:solidFill>
                <a:latin typeface="Arial Narrow"/>
                <a:ea typeface="Arial Narrow"/>
                <a:cs typeface="Arial Narrow"/>
              </a:rPr>
              <a:t>T/S®</a:t>
            </a:r>
          </a:p>
        </p:txBody>
      </p:sp>
      <p:sp>
        <p:nvSpPr>
          <p:cNvPr id="2" name="">
            <a:extLst xmlns:a="http://schemas.openxmlformats.org/drawingml/2006/main">
              <a:ext uri="{FF2B5EF4-FFF2-40B4-BE49-F238E27FC236}">
                <a16:creationId xmlns:a16="http://schemas.microsoft.com/office/drawing/2014/main" id="{A169B8C0-91C4-4D5C-8DDC-65E75245285C}"/>
              </a:ext>
            </a:extLst>
          </p:cNvPr>
          <p:cNvSpPr>
            <a:spLocks xmlns:a="http://schemas.openxmlformats.org/drawingml/2006/main" noGrp="1"/>
          </p:cNvSpPr>
          <p:nvPr/>
        </p:nvSpPr>
        <p:spPr>
          <a:xfrm xmlns:a="http://schemas.openxmlformats.org/drawingml/2006/main">
            <a:off x="10782300" y="342900"/>
            <a:ext cx="904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75756F"/>
                </a:solidFill>
                <a:latin typeface="Arial"/>
                <a:ea typeface="Arial"/>
                <a:cs typeface="Arial"/>
              </a:defRPr>
            </a:defPPr>
          </a:lstStyle>
          <a:p xmlns:a="http://schemas.openxmlformats.org/drawingml/2006/main">
            <a:pPr>
              <a:defRPr sz="1050" b="0">
                <a:solidFill>
                  <a:srgbClr val="75756F"/>
                </a:solidFill>
                <a:latin typeface="Arial"/>
                <a:ea typeface="Arial"/>
                <a:cs typeface="Arial"/>
              </a:defRPr>
            </a:pPr>
            <a:r>
              <a:rPr sz="1050" b="0">
                <a:solidFill>
                  <a:srgbClr val="75756F"/>
                </a:solidFill>
                <a:latin typeface="Arial"/>
                <a:ea typeface="Arial"/>
                <a:cs typeface="Arial"/>
              </a:rPr>
              <a:t>06 / 10</a:t>
            </a:r>
          </a:p>
        </p:txBody>
      </p:sp>
      <p:sp>
        <p:nvSpPr>
          <p:cNvPr id="3" name="">
            <a:extLst xmlns:a="http://schemas.openxmlformats.org/drawingml/2006/main">
              <a:ext uri="{FF2B5EF4-FFF2-40B4-BE49-F238E27FC236}">
                <a16:creationId xmlns:a16="http://schemas.microsoft.com/office/drawing/2014/main" id="{D1B5CCBB-0472-4729-A463-52791C57F0D7}"/>
              </a:ext>
            </a:extLst>
          </p:cNvPr>
          <p:cNvSpPr>
            <a:spLocks xmlns:a="http://schemas.openxmlformats.org/drawingml/2006/main" noGrp="1"/>
          </p:cNvSpPr>
          <p:nvPr/>
        </p:nvSpPr>
        <p:spPr>
          <a:xfrm xmlns:a="http://schemas.openxmlformats.org/drawingml/2006/main">
            <a:off x="533400" y="1047750"/>
            <a:ext cx="1104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350" b="1">
                <a:solidFill>
                  <a:srgbClr val="111111"/>
                </a:solidFill>
                <a:latin typeface="Arial Narrow"/>
                <a:ea typeface="Arial Narrow"/>
                <a:cs typeface="Arial Narrow"/>
              </a:defRPr>
            </a:defPPr>
          </a:lstStyle>
          <a:p xmlns:a="http://schemas.openxmlformats.org/drawingml/2006/main">
            <a:pPr>
              <a:defRPr sz="4350" b="1">
                <a:solidFill>
                  <a:srgbClr val="111111"/>
                </a:solidFill>
                <a:latin typeface="Arial Narrow"/>
                <a:ea typeface="Arial Narrow"/>
                <a:cs typeface="Arial Narrow"/>
              </a:defRPr>
            </a:pPr>
            <a:r>
              <a:rPr sz="4350" b="1">
                <a:solidFill>
                  <a:srgbClr val="111111"/>
                </a:solidFill>
                <a:latin typeface="Arial Narrow"/>
                <a:ea typeface="Arial Narrow"/>
                <a:cs typeface="Arial Narrow"/>
              </a:rPr>
              <a:t>How Solana enforces the ticket rules</a:t>
            </a:r>
          </a:p>
        </p:txBody>
      </p:sp>
      <p:sp>
        <p:nvSpPr>
          <p:cNvPr id="4" name="">
            <a:extLst xmlns:a="http://schemas.openxmlformats.org/drawingml/2006/main">
              <a:ext uri="{FF2B5EF4-FFF2-40B4-BE49-F238E27FC236}">
                <a16:creationId xmlns:a16="http://schemas.microsoft.com/office/drawing/2014/main" id="{17CEAC64-D746-4D73-9CC4-F9AFA485B3D7}"/>
              </a:ext>
            </a:extLst>
          </p:cNvPr>
          <p:cNvSpPr>
            <a:spLocks xmlns:a="http://schemas.openxmlformats.org/drawingml/2006/main" noGrp="1"/>
          </p:cNvSpPr>
          <p:nvPr/>
        </p:nvSpPr>
        <p:spPr>
          <a:xfrm xmlns:a="http://schemas.openxmlformats.org/drawingml/2006/main">
            <a:off x="533400" y="2657475"/>
            <a:ext cx="342900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775" b="1">
                <a:solidFill>
                  <a:srgbClr val="111111"/>
                </a:solidFill>
                <a:latin typeface="Arial Narrow"/>
                <a:ea typeface="Arial Narrow"/>
                <a:cs typeface="Arial Narrow"/>
              </a:defRPr>
            </a:defPPr>
          </a:lstStyle>
          <a:p xmlns:a="http://schemas.openxmlformats.org/drawingml/2006/main">
            <a:pPr>
              <a:defRPr sz="5775" b="1">
                <a:solidFill>
                  <a:srgbClr val="111111"/>
                </a:solidFill>
                <a:latin typeface="Arial Narrow"/>
                <a:ea typeface="Arial Narrow"/>
                <a:cs typeface="Arial Narrow"/>
              </a:defRPr>
            </a:pPr>
            <a:r>
              <a:rPr sz="5775" b="1">
                <a:solidFill>
                  <a:srgbClr val="111111"/>
                </a:solidFill>
                <a:latin typeface="Arial Narrow"/>
                <a:ea typeface="Arial Narrow"/>
                <a:cs typeface="Arial Narrow"/>
              </a:rPr>
              <a:t>TICKET</a:t>
            </a:r>
          </a:p>
          <a:p xmlns:a="http://schemas.openxmlformats.org/drawingml/2006/main">
            <a:pPr>
              <a:defRPr sz="5775" b="1">
                <a:solidFill>
                  <a:srgbClr val="111111"/>
                </a:solidFill>
                <a:latin typeface="Arial Narrow"/>
                <a:ea typeface="Arial Narrow"/>
                <a:cs typeface="Arial Narrow"/>
              </a:defRPr>
            </a:pPr>
            <a:r>
              <a:rPr sz="5775" b="1">
                <a:solidFill>
                  <a:srgbClr val="111111"/>
                </a:solidFill>
                <a:latin typeface="Arial Narrow"/>
                <a:ea typeface="Arial Narrow"/>
                <a:cs typeface="Arial Narrow"/>
              </a:rPr>
              <a:t>STATE</a:t>
            </a:r>
          </a:p>
        </p:txBody>
      </p:sp>
      <p:sp>
        <p:nvSpPr>
          <p:cNvPr id="5" name="">
            <a:extLst xmlns:a="http://schemas.openxmlformats.org/drawingml/2006/main">
              <a:ext uri="{FF2B5EF4-FFF2-40B4-BE49-F238E27FC236}">
                <a16:creationId xmlns:a16="http://schemas.microsoft.com/office/drawing/2014/main" id="{1461E494-35C0-4DCC-AEF8-E7D0C61C0746}"/>
              </a:ext>
            </a:extLst>
          </p:cNvPr>
          <p:cNvSpPr>
            <a:spLocks xmlns:a="http://schemas.openxmlformats.org/drawingml/2006/main" noGrp="1"/>
          </p:cNvSpPr>
          <p:nvPr/>
        </p:nvSpPr>
        <p:spPr>
          <a:xfrm xmlns:a="http://schemas.openxmlformats.org/drawingml/2006/main">
            <a:off x="4895850" y="2676525"/>
            <a:ext cx="676275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111111"/>
                </a:solidFill>
                <a:latin typeface="Arial"/>
                <a:ea typeface="Arial"/>
                <a:cs typeface="Arial"/>
              </a:defRPr>
            </a:defPPr>
          </a:lstStyle>
          <a:p xmlns:a="http://schemas.openxmlformats.org/drawingml/2006/main">
            <a:pPr>
              <a:defRPr sz="2700" b="0">
                <a:solidFill>
                  <a:srgbClr val="111111"/>
                </a:solidFill>
                <a:latin typeface="Arial"/>
                <a:ea typeface="Arial"/>
                <a:cs typeface="Arial"/>
              </a:defRPr>
            </a:pPr>
            <a:r>
              <a:rPr sz="2700" b="0">
                <a:solidFill>
                  <a:srgbClr val="111111"/>
                </a:solidFill>
                <a:latin typeface="Arial"/>
                <a:ea typeface="Arial"/>
                <a:cs typeface="Arial"/>
              </a:rPr>
              <a:t>Owner wallet</a:t>
            </a:r>
          </a:p>
          <a:p xmlns:a="http://schemas.openxmlformats.org/drawingml/2006/main">
            <a:pPr>
              <a:defRPr sz="2700" b="0">
                <a:solidFill>
                  <a:srgbClr val="111111"/>
                </a:solidFill>
                <a:latin typeface="Arial"/>
                <a:ea typeface="Arial"/>
                <a:cs typeface="Arial"/>
              </a:defRPr>
            </a:pPr>
            <a:r>
              <a:rPr sz="2700" b="0">
                <a:solidFill>
                  <a:srgbClr val="111111"/>
                </a:solidFill>
                <a:latin typeface="Arial"/>
                <a:ea typeface="Arial"/>
                <a:cs typeface="Arial"/>
              </a:rPr>
              <a:t>Resale price</a:t>
            </a:r>
          </a:p>
          <a:p xmlns:a="http://schemas.openxmlformats.org/drawingml/2006/main">
            <a:pPr>
              <a:defRPr sz="2700" b="0">
                <a:solidFill>
                  <a:srgbClr val="111111"/>
                </a:solidFill>
                <a:latin typeface="Arial"/>
                <a:ea typeface="Arial"/>
                <a:cs typeface="Arial"/>
              </a:defRPr>
            </a:pPr>
            <a:r>
              <a:rPr sz="2700" b="0">
                <a:solidFill>
                  <a:srgbClr val="111111"/>
                </a:solidFill>
                <a:latin typeface="Arial"/>
                <a:ea typeface="Arial"/>
                <a:cs typeface="Arial"/>
              </a:rPr>
              <a:t>Ownership version</a:t>
            </a:r>
          </a:p>
          <a:p xmlns:a="http://schemas.openxmlformats.org/drawingml/2006/main">
            <a:pPr>
              <a:defRPr sz="2700" b="0">
                <a:solidFill>
                  <a:srgbClr val="111111"/>
                </a:solidFill>
                <a:latin typeface="Arial"/>
                <a:ea typeface="Arial"/>
                <a:cs typeface="Arial"/>
              </a:defRPr>
            </a:pPr>
            <a:r>
              <a:rPr sz="2700" b="0">
                <a:solidFill>
                  <a:srgbClr val="111111"/>
                </a:solidFill>
                <a:latin typeface="Arial"/>
                <a:ea typeface="Arial"/>
                <a:cs typeface="Arial"/>
              </a:rPr>
              <a:t>Admission status</a:t>
            </a:r>
          </a:p>
        </p:txBody>
      </p:sp>
      <p:sp>
        <p:nvSpPr>
          <p:cNvPr id="6" name="">
            <a:extLst xmlns:a="http://schemas.openxmlformats.org/drawingml/2006/main">
              <a:ext uri="{FF2B5EF4-FFF2-40B4-BE49-F238E27FC236}">
                <a16:creationId xmlns:a16="http://schemas.microsoft.com/office/drawing/2014/main" id="{2C9EDDA5-AA17-4E91-B737-9D8ECDEDB002}"/>
              </a:ext>
            </a:extLst>
          </p:cNvPr>
          <p:cNvSpPr>
            <a:spLocks xmlns:a="http://schemas.openxmlformats.org/drawingml/2006/main" noGrp="1"/>
          </p:cNvSpPr>
          <p:nvPr/>
        </p:nvSpPr>
        <p:spPr>
          <a:xfrm xmlns:a="http://schemas.openxmlformats.org/drawingml/2006/main">
            <a:off x="4895850" y="5257800"/>
            <a:ext cx="676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Each sale changes the owner and ticket version.</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Only the authorized organizer can mark a ticket as used.</a:t>
            </a:r>
          </a:p>
        </p:txBody>
      </p:sp>
      <p:sp>
        <p:nvSpPr>
          <p:cNvPr id="7" name="">
            <a:extLst xmlns:a="http://schemas.openxmlformats.org/drawingml/2006/main">
              <a:ext uri="{FF2B5EF4-FFF2-40B4-BE49-F238E27FC236}">
                <a16:creationId xmlns:a16="http://schemas.microsoft.com/office/drawing/2014/main" id="{E0F483E2-6821-4849-9779-9DBCDD9FA8A6}"/>
              </a:ext>
            </a:extLst>
          </p:cNvPr>
          <p:cNvSpPr>
            <a:spLocks xmlns:a="http://schemas.openxmlformats.org/drawingml/2006/main" noGrp="1"/>
          </p:cNvSpPr>
          <p:nvPr/>
        </p:nvSpPr>
        <p:spPr>
          <a:xfrm xmlns:a="http://schemas.openxmlformats.org/drawingml/2006/main">
            <a:off x="533400" y="5667375"/>
            <a:ext cx="3857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75756F"/>
                </a:solidFill>
                <a:latin typeface="Arial"/>
                <a:ea typeface="Arial"/>
                <a:cs typeface="Arial"/>
              </a:defRPr>
            </a:defPPr>
          </a:lstStyle>
          <a:p xmlns:a="http://schemas.openxmlformats.org/drawingml/2006/main">
            <a:pPr>
              <a:defRPr sz="1575" b="0">
                <a:solidFill>
                  <a:srgbClr val="75756F"/>
                </a:solidFill>
                <a:latin typeface="Arial"/>
                <a:ea typeface="Arial"/>
                <a:cs typeface="Arial"/>
              </a:defRPr>
            </a:pPr>
            <a:r>
              <a:rPr sz="1575" b="0">
                <a:solidFill>
                  <a:srgbClr val="75756F"/>
                </a:solidFill>
                <a:latin typeface="Arial"/>
                <a:ea typeface="Arial"/>
                <a:cs typeface="Arial"/>
              </a:rPr>
              <a:t>Custom program-owned assets</a:t>
            </a:r>
          </a:p>
        </p:txBody>
      </p:sp>
    </p:spTree>
    <p:extLst>
      <p:ext uri="{BB962C8B-B14F-4D97-AF65-F5344CB8AC3E}">
        <p14:creationId xmlns:p14="http://schemas.microsoft.com/office/powerpoint/2010/main" val="1902504121"/>
      </p:ext>
    </p:extLst>
  </p:cSld>
</p:sld>
</file>

<file path=ppt/slides/slide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61F27C2-AF04-47F9-9D09-BC6F165DD001}"/>
              </a:ext>
            </a:extLst>
          </p:cNvPr>
          <p:cNvSpPr>
            <a:spLocks xmlns:a="http://schemas.openxmlformats.org/drawingml/2006/main" noGrp="1"/>
          </p:cNvSpPr>
          <p:nvPr/>
        </p:nvSpPr>
        <p:spPr>
          <a:xfrm xmlns:a="http://schemas.openxmlformats.org/drawingml/2006/main">
            <a:off x="533400" y="285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F4F4F0"/>
                </a:solidFill>
                <a:latin typeface="Arial Narrow"/>
                <a:ea typeface="Arial Narrow"/>
                <a:cs typeface="Arial Narrow"/>
              </a:defRPr>
            </a:defPPr>
          </a:lstStyle>
          <a:p xmlns:a="http://schemas.openxmlformats.org/drawingml/2006/main">
            <a:pPr>
              <a:defRPr sz="1800" b="1">
                <a:solidFill>
                  <a:srgbClr val="F4F4F0"/>
                </a:solidFill>
                <a:latin typeface="Arial Narrow"/>
                <a:ea typeface="Arial Narrow"/>
                <a:cs typeface="Arial Narrow"/>
              </a:defRPr>
            </a:pPr>
            <a:r>
              <a:rPr sz="1800" b="1">
                <a:solidFill>
                  <a:srgbClr val="F4F4F0"/>
                </a:solidFill>
                <a:latin typeface="Arial Narrow"/>
                <a:ea typeface="Arial Narrow"/>
                <a:cs typeface="Arial Narrow"/>
              </a:rPr>
              <a:t>T/S®</a:t>
            </a:r>
          </a:p>
        </p:txBody>
      </p:sp>
      <p:sp>
        <p:nvSpPr>
          <p:cNvPr id="2" name="">
            <a:extLst xmlns:a="http://schemas.openxmlformats.org/drawingml/2006/main">
              <a:ext uri="{FF2B5EF4-FFF2-40B4-BE49-F238E27FC236}">
                <a16:creationId xmlns:a16="http://schemas.microsoft.com/office/drawing/2014/main" id="{8AE69F8D-A9F8-4213-B46E-A5D284135586}"/>
              </a:ext>
            </a:extLst>
          </p:cNvPr>
          <p:cNvSpPr>
            <a:spLocks xmlns:a="http://schemas.openxmlformats.org/drawingml/2006/main" noGrp="1"/>
          </p:cNvSpPr>
          <p:nvPr/>
        </p:nvSpPr>
        <p:spPr>
          <a:xfrm xmlns:a="http://schemas.openxmlformats.org/drawingml/2006/main">
            <a:off x="10782300" y="342900"/>
            <a:ext cx="904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F4F4F0"/>
                </a:solidFill>
                <a:latin typeface="Arial"/>
                <a:ea typeface="Arial"/>
                <a:cs typeface="Arial"/>
              </a:defRPr>
            </a:defPPr>
          </a:lstStyle>
          <a:p xmlns:a="http://schemas.openxmlformats.org/drawingml/2006/main">
            <a:pPr>
              <a:defRPr sz="1050" b="0">
                <a:solidFill>
                  <a:srgbClr val="F4F4F0"/>
                </a:solidFill>
                <a:latin typeface="Arial"/>
                <a:ea typeface="Arial"/>
                <a:cs typeface="Arial"/>
              </a:defRPr>
            </a:pPr>
            <a:r>
              <a:rPr sz="1050" b="0">
                <a:solidFill>
                  <a:srgbClr val="F4F4F0"/>
                </a:solidFill>
                <a:latin typeface="Arial"/>
                <a:ea typeface="Arial"/>
                <a:cs typeface="Arial"/>
              </a:rPr>
              <a:t>07 / 10</a:t>
            </a:r>
          </a:p>
        </p:txBody>
      </p:sp>
      <p:sp>
        <p:nvSpPr>
          <p:cNvPr id="3" name="">
            <a:extLst xmlns:a="http://schemas.openxmlformats.org/drawingml/2006/main">
              <a:ext uri="{FF2B5EF4-FFF2-40B4-BE49-F238E27FC236}">
                <a16:creationId xmlns:a16="http://schemas.microsoft.com/office/drawing/2014/main" id="{F9582B33-1B04-4B1D-AABC-8E8C935E3E01}"/>
              </a:ext>
            </a:extLst>
          </p:cNvPr>
          <p:cNvSpPr>
            <a:spLocks xmlns:a="http://schemas.openxmlformats.org/drawingml/2006/main" noGrp="1"/>
          </p:cNvSpPr>
          <p:nvPr/>
        </p:nvSpPr>
        <p:spPr>
          <a:xfrm xmlns:a="http://schemas.openxmlformats.org/drawingml/2006/main">
            <a:off x="533400" y="1047750"/>
            <a:ext cx="1104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350" b="1">
                <a:solidFill>
                  <a:srgbClr val="F4F4F0"/>
                </a:solidFill>
                <a:latin typeface="Arial Narrow"/>
                <a:ea typeface="Arial Narrow"/>
                <a:cs typeface="Arial Narrow"/>
              </a:defRPr>
            </a:defPPr>
          </a:lstStyle>
          <a:p xmlns:a="http://schemas.openxmlformats.org/drawingml/2006/main">
            <a:pPr>
              <a:defRPr sz="4350" b="1">
                <a:solidFill>
                  <a:srgbClr val="F4F4F0"/>
                </a:solidFill>
                <a:latin typeface="Arial Narrow"/>
                <a:ea typeface="Arial Narrow"/>
                <a:cs typeface="Arial Narrow"/>
              </a:defRPr>
            </a:pPr>
            <a:r>
              <a:rPr sz="4350" b="1">
                <a:solidFill>
                  <a:srgbClr val="F4F4F0"/>
                </a:solidFill>
                <a:latin typeface="Arial Narrow"/>
                <a:ea typeface="Arial Narrow"/>
                <a:cs typeface="Arial Narrow"/>
              </a:rPr>
              <a:t>QR verification at the door</a:t>
            </a:r>
          </a:p>
        </p:txBody>
      </p:sp>
      <p:sp>
        <p:nvSpPr>
          <p:cNvPr id="4" name="">
            <a:extLst xmlns:a="http://schemas.openxmlformats.org/drawingml/2006/main">
              <a:ext uri="{FF2B5EF4-FFF2-40B4-BE49-F238E27FC236}">
                <a16:creationId xmlns:a16="http://schemas.microsoft.com/office/drawing/2014/main" id="{1733938D-1DF9-473A-8F65-ABBC65A17E30}"/>
              </a:ext>
            </a:extLst>
          </p:cNvPr>
          <p:cNvSpPr>
            <a:spLocks xmlns:a="http://schemas.openxmlformats.org/drawingml/2006/main" noGrp="1"/>
          </p:cNvSpPr>
          <p:nvPr/>
        </p:nvSpPr>
        <p:spPr>
          <a:xfrm xmlns:a="http://schemas.openxmlformats.org/drawingml/2006/main">
            <a:off x="533400" y="2686050"/>
            <a:ext cx="466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025" b="1">
                <a:solidFill>
                  <a:srgbClr val="F4F4F0"/>
                </a:solidFill>
                <a:latin typeface="Arial Narrow"/>
                <a:ea typeface="Arial Narrow"/>
                <a:cs typeface="Arial Narrow"/>
              </a:defRPr>
            </a:defPPr>
          </a:lstStyle>
          <a:p xmlns:a="http://schemas.openxmlformats.org/drawingml/2006/main">
            <a:pPr>
              <a:defRPr sz="5025" b="1">
                <a:solidFill>
                  <a:srgbClr val="F4F4F0"/>
                </a:solidFill>
                <a:latin typeface="Arial Narrow"/>
                <a:ea typeface="Arial Narrow"/>
                <a:cs typeface="Arial Narrow"/>
              </a:defRPr>
            </a:pPr>
            <a:r>
              <a:rPr sz="5025" b="1">
                <a:solidFill>
                  <a:srgbClr val="F4F4F0"/>
                </a:solidFill>
                <a:latin typeface="Arial Narrow"/>
                <a:ea typeface="Arial Narrow"/>
                <a:cs typeface="Arial Narrow"/>
              </a:rPr>
              <a:t>OLD QR</a:t>
            </a:r>
          </a:p>
        </p:txBody>
      </p:sp>
      <p:sp>
        <p:nvSpPr>
          <p:cNvPr id="5" name="">
            <a:extLst xmlns:a="http://schemas.openxmlformats.org/drawingml/2006/main">
              <a:ext uri="{FF2B5EF4-FFF2-40B4-BE49-F238E27FC236}">
                <a16:creationId xmlns:a16="http://schemas.microsoft.com/office/drawing/2014/main" id="{0EAF8428-C033-4BC4-A47A-60891EFB8DF3}"/>
              </a:ext>
            </a:extLst>
          </p:cNvPr>
          <p:cNvSpPr>
            <a:spLocks xmlns:a="http://schemas.openxmlformats.org/drawingml/2006/main" noGrp="1"/>
          </p:cNvSpPr>
          <p:nvPr/>
        </p:nvSpPr>
        <p:spPr>
          <a:xfrm xmlns:a="http://schemas.openxmlformats.org/drawingml/2006/main">
            <a:off x="533400" y="3733800"/>
            <a:ext cx="4667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4F0"/>
                </a:solidFill>
                <a:latin typeface="Arial"/>
                <a:ea typeface="Arial"/>
                <a:cs typeface="Arial"/>
              </a:defRPr>
            </a:defPPr>
          </a:lstStyle>
          <a:p xmlns:a="http://schemas.openxmlformats.org/drawingml/2006/main">
            <a:pPr>
              <a:defRPr sz="2175" b="0">
                <a:solidFill>
                  <a:srgbClr val="F4F4F0"/>
                </a:solidFill>
                <a:latin typeface="Arial"/>
                <a:ea typeface="Arial"/>
                <a:cs typeface="Arial"/>
              </a:defRPr>
            </a:pPr>
            <a:r>
              <a:rPr sz="2175" b="0">
                <a:solidFill>
                  <a:srgbClr val="F4F4F0"/>
                </a:solidFill>
                <a:latin typeface="Arial"/>
                <a:ea typeface="Arial"/>
                <a:cs typeface="Arial"/>
              </a:rPr>
              <a:t>After resale, the previous owner’s</a:t>
            </a:r>
          </a:p>
          <a:p xmlns:a="http://schemas.openxmlformats.org/drawingml/2006/main">
            <a:pPr>
              <a:defRPr sz="2175" b="0">
                <a:solidFill>
                  <a:srgbClr val="F4F4F0"/>
                </a:solidFill>
                <a:latin typeface="Arial"/>
                <a:ea typeface="Arial"/>
                <a:cs typeface="Arial"/>
              </a:defRPr>
            </a:pPr>
            <a:r>
              <a:rPr sz="2175" b="0">
                <a:solidFill>
                  <a:srgbClr val="F4F4F0"/>
                </a:solidFill>
                <a:latin typeface="Arial"/>
                <a:ea typeface="Arial"/>
                <a:cs typeface="Arial"/>
              </a:rPr>
              <a:t>signed proof no longer matches</a:t>
            </a:r>
          </a:p>
          <a:p xmlns:a="http://schemas.openxmlformats.org/drawingml/2006/main">
            <a:pPr>
              <a:defRPr sz="2175" b="0">
                <a:solidFill>
                  <a:srgbClr val="F4F4F0"/>
                </a:solidFill>
                <a:latin typeface="Arial"/>
                <a:ea typeface="Arial"/>
                <a:cs typeface="Arial"/>
              </a:defRPr>
            </a:pPr>
            <a:r>
              <a:rPr sz="2175" b="0">
                <a:solidFill>
                  <a:srgbClr val="F4F4F0"/>
                </a:solidFill>
                <a:latin typeface="Arial"/>
                <a:ea typeface="Arial"/>
                <a:cs typeface="Arial"/>
              </a:rPr>
              <a:t>the current ticket state.</a:t>
            </a:r>
          </a:p>
        </p:txBody>
      </p:sp>
      <p:sp>
        <p:nvSpPr>
          <p:cNvPr id="6" name="">
            <a:extLst xmlns:a="http://schemas.openxmlformats.org/drawingml/2006/main">
              <a:ext uri="{FF2B5EF4-FFF2-40B4-BE49-F238E27FC236}">
                <a16:creationId xmlns:a16="http://schemas.microsoft.com/office/drawing/2014/main" id="{B891BAF0-8BEA-4744-9594-ADC0C9C611D2}"/>
              </a:ext>
            </a:extLst>
          </p:cNvPr>
          <p:cNvSpPr>
            <a:spLocks xmlns:a="http://schemas.openxmlformats.org/drawingml/2006/main" noGrp="1"/>
          </p:cNvSpPr>
          <p:nvPr/>
        </p:nvSpPr>
        <p:spPr>
          <a:xfrm xmlns:a="http://schemas.openxmlformats.org/drawingml/2006/main">
            <a:off x="6677025" y="2686050"/>
            <a:ext cx="5000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025" b="1">
                <a:solidFill>
                  <a:srgbClr val="F4F4F0"/>
                </a:solidFill>
                <a:latin typeface="Arial Narrow"/>
                <a:ea typeface="Arial Narrow"/>
                <a:cs typeface="Arial Narrow"/>
              </a:defRPr>
            </a:defPPr>
          </a:lstStyle>
          <a:p xmlns:a="http://schemas.openxmlformats.org/drawingml/2006/main">
            <a:pPr>
              <a:defRPr sz="5025" b="1">
                <a:solidFill>
                  <a:srgbClr val="F4F4F0"/>
                </a:solidFill>
                <a:latin typeface="Arial Narrow"/>
                <a:ea typeface="Arial Narrow"/>
                <a:cs typeface="Arial Narrow"/>
              </a:defRPr>
            </a:pPr>
            <a:r>
              <a:rPr sz="5025" b="1">
                <a:solidFill>
                  <a:srgbClr val="F4F4F0"/>
                </a:solidFill>
                <a:latin typeface="Arial Narrow"/>
                <a:ea typeface="Arial Narrow"/>
                <a:cs typeface="Arial Narrow"/>
              </a:rPr>
              <a:t>CURRENT QR</a:t>
            </a:r>
          </a:p>
        </p:txBody>
      </p:sp>
      <p:sp>
        <p:nvSpPr>
          <p:cNvPr id="7" name="">
            <a:extLst xmlns:a="http://schemas.openxmlformats.org/drawingml/2006/main">
              <a:ext uri="{FF2B5EF4-FFF2-40B4-BE49-F238E27FC236}">
                <a16:creationId xmlns:a16="http://schemas.microsoft.com/office/drawing/2014/main" id="{7A98A560-8D11-413A-A3A3-C5AE3CC76FD1}"/>
              </a:ext>
            </a:extLst>
          </p:cNvPr>
          <p:cNvSpPr>
            <a:spLocks xmlns:a="http://schemas.openxmlformats.org/drawingml/2006/main" noGrp="1"/>
          </p:cNvSpPr>
          <p:nvPr/>
        </p:nvSpPr>
        <p:spPr>
          <a:xfrm xmlns:a="http://schemas.openxmlformats.org/drawingml/2006/main">
            <a:off x="6677025" y="3733800"/>
            <a:ext cx="5000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4F0"/>
                </a:solidFill>
                <a:latin typeface="Arial"/>
                <a:ea typeface="Arial"/>
                <a:cs typeface="Arial"/>
              </a:defRPr>
            </a:defPPr>
          </a:lstStyle>
          <a:p xmlns:a="http://schemas.openxmlformats.org/drawingml/2006/main">
            <a:pPr>
              <a:defRPr sz="2175" b="0">
                <a:solidFill>
                  <a:srgbClr val="F4F4F0"/>
                </a:solidFill>
                <a:latin typeface="Arial"/>
                <a:ea typeface="Arial"/>
                <a:cs typeface="Arial"/>
              </a:defRPr>
            </a:pPr>
            <a:r>
              <a:rPr sz="2175" b="0">
                <a:solidFill>
                  <a:srgbClr val="F4F4F0"/>
                </a:solidFill>
                <a:latin typeface="Arial"/>
                <a:ea typeface="Arial"/>
                <a:cs typeface="Arial"/>
              </a:rPr>
              <a:t>A phone camera opens the page.</a:t>
            </a:r>
          </a:p>
          <a:p xmlns:a="http://schemas.openxmlformats.org/drawingml/2006/main">
            <a:pPr>
              <a:defRPr sz="2175" b="0">
                <a:solidFill>
                  <a:srgbClr val="F4F4F0"/>
                </a:solidFill>
                <a:latin typeface="Arial"/>
                <a:ea typeface="Arial"/>
                <a:cs typeface="Arial"/>
              </a:defRPr>
            </a:pPr>
            <a:r>
              <a:rPr sz="2175" b="0">
                <a:solidFill>
                  <a:srgbClr val="F4F4F0"/>
                </a:solidFill>
                <a:latin typeface="Arial"/>
                <a:ea typeface="Arial"/>
                <a:cs typeface="Arial"/>
              </a:rPr>
              <a:t>The organizer confirms admission</a:t>
            </a:r>
          </a:p>
          <a:p xmlns:a="http://schemas.openxmlformats.org/drawingml/2006/main">
            <a:pPr>
              <a:defRPr sz="2175" b="0">
                <a:solidFill>
                  <a:srgbClr val="F4F4F0"/>
                </a:solidFill>
                <a:latin typeface="Arial"/>
                <a:ea typeface="Arial"/>
                <a:cs typeface="Arial"/>
              </a:defRPr>
            </a:pPr>
            <a:r>
              <a:rPr sz="2175" b="0">
                <a:solidFill>
                  <a:srgbClr val="F4F4F0"/>
                </a:solidFill>
                <a:latin typeface="Arial"/>
                <a:ea typeface="Arial"/>
                <a:cs typeface="Arial"/>
              </a:rPr>
              <a:t>with an authorized wallet.</a:t>
            </a:r>
          </a:p>
        </p:txBody>
      </p:sp>
      <p:sp>
        <p:nvSpPr>
          <p:cNvPr id="8" name="">
            <a:extLst xmlns:a="http://schemas.openxmlformats.org/drawingml/2006/main">
              <a:ext uri="{FF2B5EF4-FFF2-40B4-BE49-F238E27FC236}">
                <a16:creationId xmlns:a16="http://schemas.microsoft.com/office/drawing/2014/main" id="{8722E337-D2E4-4CFD-912F-620E1CE64F13}"/>
              </a:ext>
            </a:extLst>
          </p:cNvPr>
          <p:cNvSpPr>
            <a:spLocks xmlns:a="http://schemas.openxmlformats.org/drawingml/2006/main" noGrp="1"/>
          </p:cNvSpPr>
          <p:nvPr/>
        </p:nvSpPr>
        <p:spPr>
          <a:xfrm xmlns:a="http://schemas.openxmlformats.org/drawingml/2006/main">
            <a:off x="533400" y="5895975"/>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BDBDB5"/>
                </a:solidFill>
                <a:latin typeface="Arial"/>
                <a:ea typeface="Arial"/>
                <a:cs typeface="Arial"/>
              </a:defRPr>
            </a:defPPr>
          </a:lstStyle>
          <a:p xmlns:a="http://schemas.openxmlformats.org/drawingml/2006/main">
            <a:pPr>
              <a:defRPr sz="1350" b="0">
                <a:solidFill>
                  <a:srgbClr val="BDBDB5"/>
                </a:solidFill>
                <a:latin typeface="Arial"/>
                <a:ea typeface="Arial"/>
                <a:cs typeface="Arial"/>
              </a:defRPr>
            </a:pPr>
            <a:r>
              <a:rPr sz="1350" b="0">
                <a:solidFill>
                  <a:srgbClr val="BDBDB5"/>
                </a:solidFill>
                <a:latin typeface="Arial"/>
                <a:ea typeface="Arial"/>
                <a:cs typeface="Arial"/>
              </a:rPr>
              <a:t>A copied current QR can still be presented first. Rotating QR and identity checks are outside this MVP.</a:t>
            </a:r>
          </a:p>
        </p:txBody>
      </p:sp>
    </p:spTree>
    <p:extLst>
      <p:ext uri="{BB962C8B-B14F-4D97-AF65-F5344CB8AC3E}">
        <p14:creationId xmlns:p14="http://schemas.microsoft.com/office/powerpoint/2010/main" val="890771378"/>
      </p:ext>
    </p:extLst>
  </p:cSld>
</p:sld>
</file>

<file path=ppt/slides/slide8.xml><?xml version="1.0" encoding="utf-8"?>
<p:sld xmlns:p="http://schemas.openxmlformats.org/presentationml/2006/main">
  <p:cSld>
    <p:bg>
      <p:bgPr>
        <a:solidFill xmlns:a="http://schemas.openxmlformats.org/drawingml/2006/main">
          <a:srgbClr val="F4F4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6EF57CB-4827-4AF7-981A-69691B650EE6}"/>
              </a:ext>
            </a:extLst>
          </p:cNvPr>
          <p:cNvSpPr>
            <a:spLocks xmlns:a="http://schemas.openxmlformats.org/drawingml/2006/main" noGrp="1"/>
          </p:cNvSpPr>
          <p:nvPr/>
        </p:nvSpPr>
        <p:spPr>
          <a:xfrm xmlns:a="http://schemas.openxmlformats.org/drawingml/2006/main">
            <a:off x="533400" y="285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11111"/>
                </a:solidFill>
                <a:latin typeface="Arial Narrow"/>
                <a:ea typeface="Arial Narrow"/>
                <a:cs typeface="Arial Narrow"/>
              </a:defRPr>
            </a:defPPr>
          </a:lstStyle>
          <a:p xmlns:a="http://schemas.openxmlformats.org/drawingml/2006/main">
            <a:pPr>
              <a:defRPr sz="1800" b="1">
                <a:solidFill>
                  <a:srgbClr val="111111"/>
                </a:solidFill>
                <a:latin typeface="Arial Narrow"/>
                <a:ea typeface="Arial Narrow"/>
                <a:cs typeface="Arial Narrow"/>
              </a:defRPr>
            </a:pPr>
            <a:r>
              <a:rPr sz="1800" b="1">
                <a:solidFill>
                  <a:srgbClr val="111111"/>
                </a:solidFill>
                <a:latin typeface="Arial Narrow"/>
                <a:ea typeface="Arial Narrow"/>
                <a:cs typeface="Arial Narrow"/>
              </a:rPr>
              <a:t>T/S®</a:t>
            </a:r>
          </a:p>
        </p:txBody>
      </p:sp>
      <p:sp>
        <p:nvSpPr>
          <p:cNvPr id="2" name="">
            <a:extLst xmlns:a="http://schemas.openxmlformats.org/drawingml/2006/main">
              <a:ext uri="{FF2B5EF4-FFF2-40B4-BE49-F238E27FC236}">
                <a16:creationId xmlns:a16="http://schemas.microsoft.com/office/drawing/2014/main" id="{02AEFCAE-AD39-4A68-AF13-1E7C16C52B96}"/>
              </a:ext>
            </a:extLst>
          </p:cNvPr>
          <p:cNvSpPr>
            <a:spLocks xmlns:a="http://schemas.openxmlformats.org/drawingml/2006/main" noGrp="1"/>
          </p:cNvSpPr>
          <p:nvPr/>
        </p:nvSpPr>
        <p:spPr>
          <a:xfrm xmlns:a="http://schemas.openxmlformats.org/drawingml/2006/main">
            <a:off x="10782300" y="342900"/>
            <a:ext cx="904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75756F"/>
                </a:solidFill>
                <a:latin typeface="Arial"/>
                <a:ea typeface="Arial"/>
                <a:cs typeface="Arial"/>
              </a:defRPr>
            </a:defPPr>
          </a:lstStyle>
          <a:p xmlns:a="http://schemas.openxmlformats.org/drawingml/2006/main">
            <a:pPr>
              <a:defRPr sz="1050" b="0">
                <a:solidFill>
                  <a:srgbClr val="75756F"/>
                </a:solidFill>
                <a:latin typeface="Arial"/>
                <a:ea typeface="Arial"/>
                <a:cs typeface="Arial"/>
              </a:defRPr>
            </a:pPr>
            <a:r>
              <a:rPr sz="1050" b="0">
                <a:solidFill>
                  <a:srgbClr val="75756F"/>
                </a:solidFill>
                <a:latin typeface="Arial"/>
                <a:ea typeface="Arial"/>
                <a:cs typeface="Arial"/>
              </a:rPr>
              <a:t>08 / 10</a:t>
            </a:r>
          </a:p>
        </p:txBody>
      </p:sp>
      <p:sp>
        <p:nvSpPr>
          <p:cNvPr id="3" name="">
            <a:extLst xmlns:a="http://schemas.openxmlformats.org/drawingml/2006/main">
              <a:ext uri="{FF2B5EF4-FFF2-40B4-BE49-F238E27FC236}">
                <a16:creationId xmlns:a16="http://schemas.microsoft.com/office/drawing/2014/main" id="{140C843C-C048-4D1E-8CA1-AE52500BF70D}"/>
              </a:ext>
            </a:extLst>
          </p:cNvPr>
          <p:cNvSpPr>
            <a:spLocks xmlns:a="http://schemas.openxmlformats.org/drawingml/2006/main" noGrp="1"/>
          </p:cNvSpPr>
          <p:nvPr/>
        </p:nvSpPr>
        <p:spPr>
          <a:xfrm xmlns:a="http://schemas.openxmlformats.org/drawingml/2006/main">
            <a:off x="533400" y="1047750"/>
            <a:ext cx="1104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350" b="1">
                <a:solidFill>
                  <a:srgbClr val="111111"/>
                </a:solidFill>
                <a:latin typeface="Arial Narrow"/>
                <a:ea typeface="Arial Narrow"/>
                <a:cs typeface="Arial Narrow"/>
              </a:defRPr>
            </a:defPPr>
          </a:lstStyle>
          <a:p xmlns:a="http://schemas.openxmlformats.org/drawingml/2006/main">
            <a:pPr>
              <a:defRPr sz="4350" b="1">
                <a:solidFill>
                  <a:srgbClr val="111111"/>
                </a:solidFill>
                <a:latin typeface="Arial Narrow"/>
                <a:ea typeface="Arial Narrow"/>
                <a:cs typeface="Arial Narrow"/>
              </a:defRPr>
            </a:pPr>
            <a:r>
              <a:rPr sz="4350" b="1">
                <a:solidFill>
                  <a:srgbClr val="111111"/>
                </a:solidFill>
                <a:latin typeface="Arial Narrow"/>
                <a:ea typeface="Arial Narrow"/>
                <a:cs typeface="Arial Narrow"/>
              </a:rPr>
              <a:t>A fee on each resale</a:t>
            </a:r>
          </a:p>
        </p:txBody>
      </p:sp>
      <p:sp>
        <p:nvSpPr>
          <p:cNvPr id="4" name="">
            <a:extLst xmlns:a="http://schemas.openxmlformats.org/drawingml/2006/main">
              <a:ext uri="{FF2B5EF4-FFF2-40B4-BE49-F238E27FC236}">
                <a16:creationId xmlns:a16="http://schemas.microsoft.com/office/drawing/2014/main" id="{B7EDF604-4AD8-497C-9375-24143115E07F}"/>
              </a:ext>
            </a:extLst>
          </p:cNvPr>
          <p:cNvSpPr>
            <a:spLocks xmlns:a="http://schemas.openxmlformats.org/drawingml/2006/main" noGrp="1"/>
          </p:cNvSpPr>
          <p:nvPr/>
        </p:nvSpPr>
        <p:spPr>
          <a:xfrm xmlns:a="http://schemas.openxmlformats.org/drawingml/2006/main">
            <a:off x="533400" y="2686050"/>
            <a:ext cx="30956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850" b="1">
                <a:solidFill>
                  <a:srgbClr val="111111"/>
                </a:solidFill>
                <a:latin typeface="Arial Narrow"/>
                <a:ea typeface="Arial Narrow"/>
                <a:cs typeface="Arial Narrow"/>
              </a:defRPr>
            </a:defPPr>
          </a:lstStyle>
          <a:p xmlns:a="http://schemas.openxmlformats.org/drawingml/2006/main">
            <a:pPr>
              <a:defRPr sz="8850" b="1">
                <a:solidFill>
                  <a:srgbClr val="111111"/>
                </a:solidFill>
                <a:latin typeface="Arial Narrow"/>
                <a:ea typeface="Arial Narrow"/>
                <a:cs typeface="Arial Narrow"/>
              </a:defRPr>
            </a:pPr>
            <a:r>
              <a:rPr sz="8850" b="1">
                <a:solidFill>
                  <a:srgbClr val="111111"/>
                </a:solidFill>
                <a:latin typeface="Arial Narrow"/>
                <a:ea typeface="Arial Narrow"/>
                <a:cs typeface="Arial Narrow"/>
              </a:rPr>
              <a:t>93%</a:t>
            </a:r>
          </a:p>
        </p:txBody>
      </p:sp>
      <p:sp>
        <p:nvSpPr>
          <p:cNvPr id="5" name="">
            <a:extLst xmlns:a="http://schemas.openxmlformats.org/drawingml/2006/main">
              <a:ext uri="{FF2B5EF4-FFF2-40B4-BE49-F238E27FC236}">
                <a16:creationId xmlns:a16="http://schemas.microsoft.com/office/drawing/2014/main" id="{45D76AA4-DA65-4F84-AF94-7FCF5471F851}"/>
              </a:ext>
            </a:extLst>
          </p:cNvPr>
          <p:cNvSpPr>
            <a:spLocks xmlns:a="http://schemas.openxmlformats.org/drawingml/2006/main" noGrp="1"/>
          </p:cNvSpPr>
          <p:nvPr/>
        </p:nvSpPr>
        <p:spPr>
          <a:xfrm xmlns:a="http://schemas.openxmlformats.org/drawingml/2006/main">
            <a:off x="533400" y="418147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11111"/>
                </a:solidFill>
                <a:latin typeface="Arial"/>
                <a:ea typeface="Arial"/>
                <a:cs typeface="Arial"/>
              </a:defRPr>
            </a:defPPr>
          </a:lstStyle>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Seller</a:t>
            </a:r>
          </a:p>
        </p:txBody>
      </p:sp>
      <p:sp>
        <p:nvSpPr>
          <p:cNvPr id="6" name="">
            <a:extLst xmlns:a="http://schemas.openxmlformats.org/drawingml/2006/main">
              <a:ext uri="{FF2B5EF4-FFF2-40B4-BE49-F238E27FC236}">
                <a16:creationId xmlns:a16="http://schemas.microsoft.com/office/drawing/2014/main" id="{E61412B4-A004-43C6-8170-19CC285B1499}"/>
              </a:ext>
            </a:extLst>
          </p:cNvPr>
          <p:cNvSpPr>
            <a:spLocks xmlns:a="http://schemas.openxmlformats.org/drawingml/2006/main" noGrp="1"/>
          </p:cNvSpPr>
          <p:nvPr/>
        </p:nvSpPr>
        <p:spPr>
          <a:xfrm xmlns:a="http://schemas.openxmlformats.org/drawingml/2006/main">
            <a:off x="4533900" y="2686050"/>
            <a:ext cx="30956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850" b="1">
                <a:solidFill>
                  <a:srgbClr val="111111"/>
                </a:solidFill>
                <a:latin typeface="Arial Narrow"/>
                <a:ea typeface="Arial Narrow"/>
                <a:cs typeface="Arial Narrow"/>
              </a:defRPr>
            </a:defPPr>
          </a:lstStyle>
          <a:p xmlns:a="http://schemas.openxmlformats.org/drawingml/2006/main">
            <a:pPr>
              <a:defRPr sz="8850" b="1">
                <a:solidFill>
                  <a:srgbClr val="111111"/>
                </a:solidFill>
                <a:latin typeface="Arial Narrow"/>
                <a:ea typeface="Arial Narrow"/>
                <a:cs typeface="Arial Narrow"/>
              </a:defRPr>
            </a:pPr>
            <a:r>
              <a:rPr sz="8850" b="1">
                <a:solidFill>
                  <a:srgbClr val="111111"/>
                </a:solidFill>
                <a:latin typeface="Arial Narrow"/>
                <a:ea typeface="Arial Narrow"/>
                <a:cs typeface="Arial Narrow"/>
              </a:rPr>
              <a:t>5%</a:t>
            </a:r>
          </a:p>
        </p:txBody>
      </p:sp>
      <p:sp>
        <p:nvSpPr>
          <p:cNvPr id="7" name="">
            <a:extLst xmlns:a="http://schemas.openxmlformats.org/drawingml/2006/main">
              <a:ext uri="{FF2B5EF4-FFF2-40B4-BE49-F238E27FC236}">
                <a16:creationId xmlns:a16="http://schemas.microsoft.com/office/drawing/2014/main" id="{5F51459F-B157-4A5C-AD4A-E60AEE485691}"/>
              </a:ext>
            </a:extLst>
          </p:cNvPr>
          <p:cNvSpPr>
            <a:spLocks xmlns:a="http://schemas.openxmlformats.org/drawingml/2006/main" noGrp="1"/>
          </p:cNvSpPr>
          <p:nvPr/>
        </p:nvSpPr>
        <p:spPr>
          <a:xfrm xmlns:a="http://schemas.openxmlformats.org/drawingml/2006/main">
            <a:off x="4533900" y="418147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11111"/>
                </a:solidFill>
                <a:latin typeface="Arial"/>
                <a:ea typeface="Arial"/>
                <a:cs typeface="Arial"/>
              </a:defRPr>
            </a:defPPr>
          </a:lstStyle>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Organizer</a:t>
            </a:r>
          </a:p>
        </p:txBody>
      </p:sp>
      <p:sp>
        <p:nvSpPr>
          <p:cNvPr id="8" name="">
            <a:extLst xmlns:a="http://schemas.openxmlformats.org/drawingml/2006/main">
              <a:ext uri="{FF2B5EF4-FFF2-40B4-BE49-F238E27FC236}">
                <a16:creationId xmlns:a16="http://schemas.microsoft.com/office/drawing/2014/main" id="{0249F46A-5D85-49F3-81B7-485E79E6D798}"/>
              </a:ext>
            </a:extLst>
          </p:cNvPr>
          <p:cNvSpPr>
            <a:spLocks xmlns:a="http://schemas.openxmlformats.org/drawingml/2006/main" noGrp="1"/>
          </p:cNvSpPr>
          <p:nvPr/>
        </p:nvSpPr>
        <p:spPr>
          <a:xfrm xmlns:a="http://schemas.openxmlformats.org/drawingml/2006/main">
            <a:off x="8534400" y="2686050"/>
            <a:ext cx="30956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850" b="1">
                <a:solidFill>
                  <a:srgbClr val="111111"/>
                </a:solidFill>
                <a:latin typeface="Arial Narrow"/>
                <a:ea typeface="Arial Narrow"/>
                <a:cs typeface="Arial Narrow"/>
              </a:defRPr>
            </a:defPPr>
          </a:lstStyle>
          <a:p xmlns:a="http://schemas.openxmlformats.org/drawingml/2006/main">
            <a:pPr>
              <a:defRPr sz="8850" b="1">
                <a:solidFill>
                  <a:srgbClr val="111111"/>
                </a:solidFill>
                <a:latin typeface="Arial Narrow"/>
                <a:ea typeface="Arial Narrow"/>
                <a:cs typeface="Arial Narrow"/>
              </a:defRPr>
            </a:pPr>
            <a:r>
              <a:rPr sz="8850" b="1">
                <a:solidFill>
                  <a:srgbClr val="111111"/>
                </a:solidFill>
                <a:latin typeface="Arial Narrow"/>
                <a:ea typeface="Arial Narrow"/>
                <a:cs typeface="Arial Narrow"/>
              </a:rPr>
              <a:t>2%</a:t>
            </a:r>
          </a:p>
        </p:txBody>
      </p:sp>
      <p:sp>
        <p:nvSpPr>
          <p:cNvPr id="9" name="">
            <a:extLst xmlns:a="http://schemas.openxmlformats.org/drawingml/2006/main">
              <a:ext uri="{FF2B5EF4-FFF2-40B4-BE49-F238E27FC236}">
                <a16:creationId xmlns:a16="http://schemas.microsoft.com/office/drawing/2014/main" id="{C9E1AD53-C116-47A3-91D5-8500941B90E5}"/>
              </a:ext>
            </a:extLst>
          </p:cNvPr>
          <p:cNvSpPr>
            <a:spLocks xmlns:a="http://schemas.openxmlformats.org/drawingml/2006/main" noGrp="1"/>
          </p:cNvSpPr>
          <p:nvPr/>
        </p:nvSpPr>
        <p:spPr>
          <a:xfrm xmlns:a="http://schemas.openxmlformats.org/drawingml/2006/main">
            <a:off x="8534400" y="418147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11111"/>
                </a:solidFill>
                <a:latin typeface="Arial"/>
                <a:ea typeface="Arial"/>
                <a:cs typeface="Arial"/>
              </a:defRPr>
            </a:defPPr>
          </a:lstStyle>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Ticketsol</a:t>
            </a:r>
          </a:p>
        </p:txBody>
      </p:sp>
      <p:sp>
        <p:nvSpPr>
          <p:cNvPr id="10" name="">
            <a:extLst xmlns:a="http://schemas.openxmlformats.org/drawingml/2006/main">
              <a:ext uri="{FF2B5EF4-FFF2-40B4-BE49-F238E27FC236}">
                <a16:creationId xmlns:a16="http://schemas.microsoft.com/office/drawing/2014/main" id="{F257FDA3-B769-4113-AD68-86FD7D00EFAA}"/>
              </a:ext>
            </a:extLst>
          </p:cNvPr>
          <p:cNvSpPr>
            <a:spLocks xmlns:a="http://schemas.openxmlformats.org/drawingml/2006/main" noGrp="1"/>
          </p:cNvSpPr>
          <p:nvPr/>
        </p:nvSpPr>
        <p:spPr>
          <a:xfrm xmlns:a="http://schemas.openxmlformats.org/drawingml/2006/main">
            <a:off x="533400" y="5353050"/>
            <a:ext cx="3810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11111"/>
                </a:solidFill>
                <a:latin typeface="Arial"/>
                <a:ea typeface="Arial"/>
                <a:cs typeface="Arial"/>
              </a:defRPr>
            </a:defPPr>
          </a:lstStyle>
          <a:p xmlns:a="http://schemas.openxmlformats.org/drawingml/2006/main">
            <a:pPr>
              <a:defRPr sz="2025" b="1">
                <a:solidFill>
                  <a:srgbClr val="111111"/>
                </a:solidFill>
                <a:latin typeface="Arial"/>
                <a:ea typeface="Arial"/>
                <a:cs typeface="Arial"/>
              </a:defRPr>
            </a:pPr>
            <a:r>
              <a:rPr sz="2025" b="1">
                <a:solidFill>
                  <a:srgbClr val="111111"/>
                </a:solidFill>
                <a:latin typeface="Arial"/>
                <a:ea typeface="Arial"/>
                <a:cs typeface="Arial"/>
              </a:rPr>
              <a:t>Example at 0.1 SOL</a:t>
            </a:r>
          </a:p>
        </p:txBody>
      </p:sp>
      <p:sp>
        <p:nvSpPr>
          <p:cNvPr id="11" name="">
            <a:extLst xmlns:a="http://schemas.openxmlformats.org/drawingml/2006/main">
              <a:ext uri="{FF2B5EF4-FFF2-40B4-BE49-F238E27FC236}">
                <a16:creationId xmlns:a16="http://schemas.microsoft.com/office/drawing/2014/main" id="{904B7C23-D09C-4972-AC7F-3880F6815D3F}"/>
              </a:ext>
            </a:extLst>
          </p:cNvPr>
          <p:cNvSpPr>
            <a:spLocks xmlns:a="http://schemas.openxmlformats.org/drawingml/2006/main" noGrp="1"/>
          </p:cNvSpPr>
          <p:nvPr/>
        </p:nvSpPr>
        <p:spPr>
          <a:xfrm xmlns:a="http://schemas.openxmlformats.org/drawingml/2006/main">
            <a:off x="4533900" y="5314950"/>
            <a:ext cx="7105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11111"/>
                </a:solidFill>
                <a:latin typeface="Arial"/>
                <a:ea typeface="Arial"/>
                <a:cs typeface="Arial"/>
              </a:defRPr>
            </a:defPPr>
          </a:lstStyle>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0.093 SOL to the seller, 0.005 SOL to the organizer,</a:t>
            </a:r>
          </a:p>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and 0.002 SOL to the platform. Network fees are separate.</a:t>
            </a:r>
          </a:p>
        </p:txBody>
      </p:sp>
    </p:spTree>
    <p:extLst>
      <p:ext uri="{BB962C8B-B14F-4D97-AF65-F5344CB8AC3E}">
        <p14:creationId xmlns:p14="http://schemas.microsoft.com/office/powerpoint/2010/main" val="190952094"/>
      </p:ext>
    </p:extLst>
  </p:cSld>
</p:sld>
</file>

<file path=ppt/slides/slide9.xml><?xml version="1.0" encoding="utf-8"?>
<p:sld xmlns:p="http://schemas.openxmlformats.org/presentationml/2006/main">
  <p:cSld>
    <p:bg>
      <p:bgPr>
        <a:solidFill xmlns:a="http://schemas.openxmlformats.org/drawingml/2006/main">
          <a:srgbClr val="F4F4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09C8BE-5B04-4EC7-ABA9-60CD76D06D68}"/>
              </a:ext>
            </a:extLst>
          </p:cNvPr>
          <p:cNvSpPr>
            <a:spLocks xmlns:a="http://schemas.openxmlformats.org/drawingml/2006/main" noGrp="1"/>
          </p:cNvSpPr>
          <p:nvPr/>
        </p:nvSpPr>
        <p:spPr>
          <a:xfrm xmlns:a="http://schemas.openxmlformats.org/drawingml/2006/main">
            <a:off x="533400" y="285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11111"/>
                </a:solidFill>
                <a:latin typeface="Arial Narrow"/>
                <a:ea typeface="Arial Narrow"/>
                <a:cs typeface="Arial Narrow"/>
              </a:defRPr>
            </a:defPPr>
          </a:lstStyle>
          <a:p xmlns:a="http://schemas.openxmlformats.org/drawingml/2006/main">
            <a:pPr>
              <a:defRPr sz="1800" b="1">
                <a:solidFill>
                  <a:srgbClr val="111111"/>
                </a:solidFill>
                <a:latin typeface="Arial Narrow"/>
                <a:ea typeface="Arial Narrow"/>
                <a:cs typeface="Arial Narrow"/>
              </a:defRPr>
            </a:pPr>
            <a:r>
              <a:rPr sz="1800" b="1">
                <a:solidFill>
                  <a:srgbClr val="111111"/>
                </a:solidFill>
                <a:latin typeface="Arial Narrow"/>
                <a:ea typeface="Arial Narrow"/>
                <a:cs typeface="Arial Narrow"/>
              </a:rPr>
              <a:t>T/S®</a:t>
            </a:r>
          </a:p>
        </p:txBody>
      </p:sp>
      <p:sp>
        <p:nvSpPr>
          <p:cNvPr id="2" name="">
            <a:extLst xmlns:a="http://schemas.openxmlformats.org/drawingml/2006/main">
              <a:ext uri="{FF2B5EF4-FFF2-40B4-BE49-F238E27FC236}">
                <a16:creationId xmlns:a16="http://schemas.microsoft.com/office/drawing/2014/main" id="{693B4E54-D4FE-4CD4-851E-5DD8A180FF6C}"/>
              </a:ext>
            </a:extLst>
          </p:cNvPr>
          <p:cNvSpPr>
            <a:spLocks xmlns:a="http://schemas.openxmlformats.org/drawingml/2006/main" noGrp="1"/>
          </p:cNvSpPr>
          <p:nvPr/>
        </p:nvSpPr>
        <p:spPr>
          <a:xfrm xmlns:a="http://schemas.openxmlformats.org/drawingml/2006/main">
            <a:off x="10782300" y="342900"/>
            <a:ext cx="904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75756F"/>
                </a:solidFill>
                <a:latin typeface="Arial"/>
                <a:ea typeface="Arial"/>
                <a:cs typeface="Arial"/>
              </a:defRPr>
            </a:defPPr>
          </a:lstStyle>
          <a:p xmlns:a="http://schemas.openxmlformats.org/drawingml/2006/main">
            <a:pPr>
              <a:defRPr sz="1050" b="0">
                <a:solidFill>
                  <a:srgbClr val="75756F"/>
                </a:solidFill>
                <a:latin typeface="Arial"/>
                <a:ea typeface="Arial"/>
                <a:cs typeface="Arial"/>
              </a:defRPr>
            </a:pPr>
            <a:r>
              <a:rPr sz="1050" b="0">
                <a:solidFill>
                  <a:srgbClr val="75756F"/>
                </a:solidFill>
                <a:latin typeface="Arial"/>
                <a:ea typeface="Arial"/>
                <a:cs typeface="Arial"/>
              </a:rPr>
              <a:t>09 / 10</a:t>
            </a:r>
          </a:p>
        </p:txBody>
      </p:sp>
      <p:sp>
        <p:nvSpPr>
          <p:cNvPr id="3" name="">
            <a:extLst xmlns:a="http://schemas.openxmlformats.org/drawingml/2006/main">
              <a:ext uri="{FF2B5EF4-FFF2-40B4-BE49-F238E27FC236}">
                <a16:creationId xmlns:a16="http://schemas.microsoft.com/office/drawing/2014/main" id="{354B880B-6BED-44F1-B5E6-DACDA96F3381}"/>
              </a:ext>
            </a:extLst>
          </p:cNvPr>
          <p:cNvSpPr>
            <a:spLocks xmlns:a="http://schemas.openxmlformats.org/drawingml/2006/main" noGrp="1"/>
          </p:cNvSpPr>
          <p:nvPr/>
        </p:nvSpPr>
        <p:spPr>
          <a:xfrm xmlns:a="http://schemas.openxmlformats.org/drawingml/2006/main">
            <a:off x="533400" y="1047750"/>
            <a:ext cx="1104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350" b="1">
                <a:solidFill>
                  <a:srgbClr val="111111"/>
                </a:solidFill>
                <a:latin typeface="Arial Narrow"/>
                <a:ea typeface="Arial Narrow"/>
                <a:cs typeface="Arial Narrow"/>
              </a:defRPr>
            </a:defPPr>
          </a:lstStyle>
          <a:p xmlns:a="http://schemas.openxmlformats.org/drawingml/2006/main">
            <a:pPr>
              <a:defRPr sz="4350" b="1">
                <a:solidFill>
                  <a:srgbClr val="111111"/>
                </a:solidFill>
                <a:latin typeface="Arial Narrow"/>
                <a:ea typeface="Arial Narrow"/>
                <a:cs typeface="Arial Narrow"/>
              </a:defRPr>
            </a:pPr>
            <a:r>
              <a:rPr sz="4350" b="1">
                <a:solidFill>
                  <a:srgbClr val="111111"/>
                </a:solidFill>
                <a:latin typeface="Arial Narrow"/>
                <a:ea typeface="Arial Narrow"/>
                <a:cs typeface="Arial Narrow"/>
              </a:rPr>
              <a:t>MVP status</a:t>
            </a:r>
          </a:p>
        </p:txBody>
      </p:sp>
      <p:sp>
        <p:nvSpPr>
          <p:cNvPr id="4" name="">
            <a:extLst xmlns:a="http://schemas.openxmlformats.org/drawingml/2006/main">
              <a:ext uri="{FF2B5EF4-FFF2-40B4-BE49-F238E27FC236}">
                <a16:creationId xmlns:a16="http://schemas.microsoft.com/office/drawing/2014/main" id="{14ADC165-10B5-4B4D-ACC5-612B42D05F6D}"/>
              </a:ext>
            </a:extLst>
          </p:cNvPr>
          <p:cNvSpPr>
            <a:spLocks xmlns:a="http://schemas.openxmlformats.org/drawingml/2006/main" noGrp="1"/>
          </p:cNvSpPr>
          <p:nvPr/>
        </p:nvSpPr>
        <p:spPr>
          <a:xfrm xmlns:a="http://schemas.openxmlformats.org/drawingml/2006/main">
            <a:off x="533400" y="2524125"/>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111111"/>
                </a:solidFill>
                <a:latin typeface="Arial Narrow"/>
                <a:ea typeface="Arial Narrow"/>
                <a:cs typeface="Arial Narrow"/>
              </a:defRPr>
            </a:defPPr>
          </a:lstStyle>
          <a:p xmlns:a="http://schemas.openxmlformats.org/drawingml/2006/main">
            <a:pPr>
              <a:defRPr sz="2925" b="1">
                <a:solidFill>
                  <a:srgbClr val="111111"/>
                </a:solidFill>
                <a:latin typeface="Arial Narrow"/>
                <a:ea typeface="Arial Narrow"/>
                <a:cs typeface="Arial Narrow"/>
              </a:defRPr>
            </a:pPr>
            <a:r>
              <a:rPr sz="2925" b="1">
                <a:solidFill>
                  <a:srgbClr val="111111"/>
                </a:solidFill>
                <a:latin typeface="Arial Narrow"/>
                <a:ea typeface="Arial Narrow"/>
                <a:cs typeface="Arial Narrow"/>
              </a:rPr>
              <a:t>BUILT</a:t>
            </a:r>
          </a:p>
        </p:txBody>
      </p:sp>
      <p:sp>
        <p:nvSpPr>
          <p:cNvPr id="5" name="">
            <a:extLst xmlns:a="http://schemas.openxmlformats.org/drawingml/2006/main">
              <a:ext uri="{FF2B5EF4-FFF2-40B4-BE49-F238E27FC236}">
                <a16:creationId xmlns:a16="http://schemas.microsoft.com/office/drawing/2014/main" id="{48EDA113-00B5-4787-A7E2-391DE442B0F4}"/>
              </a:ext>
            </a:extLst>
          </p:cNvPr>
          <p:cNvSpPr>
            <a:spLocks xmlns:a="http://schemas.openxmlformats.org/drawingml/2006/main" noGrp="1"/>
          </p:cNvSpPr>
          <p:nvPr/>
        </p:nvSpPr>
        <p:spPr>
          <a:xfrm xmlns:a="http://schemas.openxmlformats.org/drawingml/2006/main">
            <a:off x="533400" y="3390900"/>
            <a:ext cx="533400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11111"/>
                </a:solidFill>
                <a:latin typeface="Arial"/>
                <a:ea typeface="Arial"/>
                <a:cs typeface="Arial"/>
              </a:defRPr>
            </a:defPPr>
          </a:lstStyle>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English site with five demo events</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Search and responsive poster layout</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Purchase, resale and QR interfaces</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Compiled Solana program</a:t>
            </a:r>
          </a:p>
        </p:txBody>
      </p:sp>
      <p:sp>
        <p:nvSpPr>
          <p:cNvPr id="6" name="">
            <a:extLst xmlns:a="http://schemas.openxmlformats.org/drawingml/2006/main">
              <a:ext uri="{FF2B5EF4-FFF2-40B4-BE49-F238E27FC236}">
                <a16:creationId xmlns:a16="http://schemas.microsoft.com/office/drawing/2014/main" id="{C6FEEEA9-EC13-459F-B17D-C6610F38DDF4}"/>
              </a:ext>
            </a:extLst>
          </p:cNvPr>
          <p:cNvSpPr>
            <a:spLocks xmlns:a="http://schemas.openxmlformats.org/drawingml/2006/main" noGrp="1"/>
          </p:cNvSpPr>
          <p:nvPr/>
        </p:nvSpPr>
        <p:spPr>
          <a:xfrm xmlns:a="http://schemas.openxmlformats.org/drawingml/2006/main">
            <a:off x="6943725" y="2524125"/>
            <a:ext cx="4714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111111"/>
                </a:solidFill>
                <a:latin typeface="Arial Narrow"/>
                <a:ea typeface="Arial Narrow"/>
                <a:cs typeface="Arial Narrow"/>
              </a:defRPr>
            </a:defPPr>
          </a:lstStyle>
          <a:p xmlns:a="http://schemas.openxmlformats.org/drawingml/2006/main">
            <a:pPr>
              <a:defRPr sz="2925" b="1">
                <a:solidFill>
                  <a:srgbClr val="111111"/>
                </a:solidFill>
                <a:latin typeface="Arial Narrow"/>
                <a:ea typeface="Arial Narrow"/>
                <a:cs typeface="Arial Narrow"/>
              </a:defRPr>
            </a:pPr>
            <a:r>
              <a:rPr sz="2925" b="1">
                <a:solidFill>
                  <a:srgbClr val="111111"/>
                </a:solidFill>
                <a:latin typeface="Arial Narrow"/>
                <a:ea typeface="Arial Narrow"/>
                <a:cs typeface="Arial Narrow"/>
              </a:rPr>
              <a:t>NEXT</a:t>
            </a:r>
          </a:p>
        </p:txBody>
      </p:sp>
      <p:sp>
        <p:nvSpPr>
          <p:cNvPr id="7" name="">
            <a:extLst xmlns:a="http://schemas.openxmlformats.org/drawingml/2006/main">
              <a:ext uri="{FF2B5EF4-FFF2-40B4-BE49-F238E27FC236}">
                <a16:creationId xmlns:a16="http://schemas.microsoft.com/office/drawing/2014/main" id="{8ADBFE67-5E9A-45AE-98CD-97C56EC87C97}"/>
              </a:ext>
            </a:extLst>
          </p:cNvPr>
          <p:cNvSpPr>
            <a:spLocks xmlns:a="http://schemas.openxmlformats.org/drawingml/2006/main" noGrp="1"/>
          </p:cNvSpPr>
          <p:nvPr/>
        </p:nvSpPr>
        <p:spPr>
          <a:xfrm xmlns:a="http://schemas.openxmlformats.org/drawingml/2006/main">
            <a:off x="6943725" y="3390900"/>
            <a:ext cx="4714875"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11111"/>
                </a:solidFill>
                <a:latin typeface="Arial"/>
                <a:ea typeface="Arial"/>
                <a:cs typeface="Arial"/>
              </a:defRPr>
            </a:defPPr>
          </a:lstStyle>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Fund and deploy to Devnet</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Run the full two-wallet demo</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Enable public verification access</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Pilot with one trusted organizer</a:t>
            </a:r>
          </a:p>
        </p:txBody>
      </p:sp>
      <p:sp>
        <p:nvSpPr>
          <p:cNvPr id="8" name="">
            <a:extLst xmlns:a="http://schemas.openxmlformats.org/drawingml/2006/main">
              <a:ext uri="{FF2B5EF4-FFF2-40B4-BE49-F238E27FC236}">
                <a16:creationId xmlns:a16="http://schemas.microsoft.com/office/drawing/2014/main" id="{61A48388-9BDF-4DD8-9B23-EE38FED74E08}"/>
              </a:ext>
            </a:extLst>
          </p:cNvPr>
          <p:cNvSpPr>
            <a:spLocks xmlns:a="http://schemas.openxmlformats.org/drawingml/2006/main" noGrp="1"/>
          </p:cNvSpPr>
          <p:nvPr/>
        </p:nvSpPr>
        <p:spPr>
          <a:xfrm xmlns:a="http://schemas.openxmlformats.org/drawingml/2006/main">
            <a:off x="533400" y="5895975"/>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75756F"/>
                </a:solidFill>
                <a:latin typeface="Arial"/>
                <a:ea typeface="Arial"/>
                <a:cs typeface="Arial"/>
              </a:defRPr>
            </a:defPPr>
          </a:lstStyle>
          <a:p xmlns:a="http://schemas.openxmlformats.org/drawingml/2006/main">
            <a:pPr>
              <a:defRPr sz="1350" b="0">
                <a:solidFill>
                  <a:srgbClr val="75756F"/>
                </a:solidFill>
                <a:latin typeface="Arial"/>
                <a:ea typeface="Arial"/>
                <a:cs typeface="Arial"/>
              </a:defRPr>
            </a:pPr>
            <a:r>
              <a:rPr sz="1350" b="0">
                <a:solidFill>
                  <a:srgbClr val="75756F"/>
                </a:solidFill>
                <a:latin typeface="Arial"/>
                <a:ea typeface="Arial"/>
                <a:cs typeface="Arial"/>
              </a:rPr>
              <a:t>17 local integration checks passed. Four extra events show Coming soon. Live purchases await Devnet deployment.</a:t>
            </a:r>
          </a:p>
        </p:txBody>
      </p:sp>
    </p:spTree>
    <p:extLst>
      <p:ext uri="{BB962C8B-B14F-4D97-AF65-F5344CB8AC3E}">
        <p14:creationId xmlns:p14="http://schemas.microsoft.com/office/powerpoint/2010/main" val="1332509409"/>
      </p:ext>
    </p:extLst>
  </p:cSld>
</p:sld>
</file>

<file path=ppt/slides/slide10.xml><?xml version="1.0" encoding="utf-8"?>
<p:sld xmlns:p="http://schemas.openxmlformats.org/presentationml/2006/main">
  <p:cSld>
    <p:bg>
      <p:bgPr>
        <a:solidFill xmlns:a="http://schemas.openxmlformats.org/drawingml/2006/main">
          <a:srgbClr val="F4F4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4F13DB-9FEE-47A9-9582-BF293F5C0BD1}"/>
              </a:ext>
            </a:extLst>
          </p:cNvPr>
          <p:cNvSpPr>
            <a:spLocks xmlns:a="http://schemas.openxmlformats.org/drawingml/2006/main" noGrp="1"/>
          </p:cNvSpPr>
          <p:nvPr/>
        </p:nvSpPr>
        <p:spPr>
          <a:xfrm xmlns:a="http://schemas.openxmlformats.org/drawingml/2006/main">
            <a:off x="533400" y="285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11111"/>
                </a:solidFill>
                <a:latin typeface="Arial Narrow"/>
                <a:ea typeface="Arial Narrow"/>
                <a:cs typeface="Arial Narrow"/>
              </a:defRPr>
            </a:defPPr>
          </a:lstStyle>
          <a:p xmlns:a="http://schemas.openxmlformats.org/drawingml/2006/main">
            <a:pPr>
              <a:defRPr sz="1800" b="1">
                <a:solidFill>
                  <a:srgbClr val="111111"/>
                </a:solidFill>
                <a:latin typeface="Arial Narrow"/>
                <a:ea typeface="Arial Narrow"/>
                <a:cs typeface="Arial Narrow"/>
              </a:defRPr>
            </a:pPr>
            <a:r>
              <a:rPr sz="1800" b="1">
                <a:solidFill>
                  <a:srgbClr val="111111"/>
                </a:solidFill>
                <a:latin typeface="Arial Narrow"/>
                <a:ea typeface="Arial Narrow"/>
                <a:cs typeface="Arial Narrow"/>
              </a:rPr>
              <a:t>T/S®</a:t>
            </a:r>
          </a:p>
        </p:txBody>
      </p:sp>
      <p:sp>
        <p:nvSpPr>
          <p:cNvPr id="2" name="">
            <a:extLst xmlns:a="http://schemas.openxmlformats.org/drawingml/2006/main">
              <a:ext uri="{FF2B5EF4-FFF2-40B4-BE49-F238E27FC236}">
                <a16:creationId xmlns:a16="http://schemas.microsoft.com/office/drawing/2014/main" id="{2E82E203-D0BC-4CBF-9E2E-C61267EABE1F}"/>
              </a:ext>
            </a:extLst>
          </p:cNvPr>
          <p:cNvSpPr>
            <a:spLocks xmlns:a="http://schemas.openxmlformats.org/drawingml/2006/main" noGrp="1"/>
          </p:cNvSpPr>
          <p:nvPr/>
        </p:nvSpPr>
        <p:spPr>
          <a:xfrm xmlns:a="http://schemas.openxmlformats.org/drawingml/2006/main">
            <a:off x="10782300" y="342900"/>
            <a:ext cx="904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75756F"/>
                </a:solidFill>
                <a:latin typeface="Arial"/>
                <a:ea typeface="Arial"/>
                <a:cs typeface="Arial"/>
              </a:defRPr>
            </a:defPPr>
          </a:lstStyle>
          <a:p xmlns:a="http://schemas.openxmlformats.org/drawingml/2006/main">
            <a:pPr>
              <a:defRPr sz="1050" b="0">
                <a:solidFill>
                  <a:srgbClr val="75756F"/>
                </a:solidFill>
                <a:latin typeface="Arial"/>
                <a:ea typeface="Arial"/>
                <a:cs typeface="Arial"/>
              </a:defRPr>
            </a:pPr>
            <a:r>
              <a:rPr sz="1050" b="0">
                <a:solidFill>
                  <a:srgbClr val="75756F"/>
                </a:solidFill>
                <a:latin typeface="Arial"/>
                <a:ea typeface="Arial"/>
                <a:cs typeface="Arial"/>
              </a:rPr>
              <a:t>10 / 10</a:t>
            </a:r>
          </a:p>
        </p:txBody>
      </p:sp>
      <p:sp>
        <p:nvSpPr>
          <p:cNvPr id="3" name="">
            <a:extLst xmlns:a="http://schemas.openxmlformats.org/drawingml/2006/main">
              <a:ext uri="{FF2B5EF4-FFF2-40B4-BE49-F238E27FC236}">
                <a16:creationId xmlns:a16="http://schemas.microsoft.com/office/drawing/2014/main" id="{8A1E951E-DD4D-4B6D-959F-F35C11F95910}"/>
              </a:ext>
            </a:extLst>
          </p:cNvPr>
          <p:cNvSpPr>
            <a:spLocks xmlns:a="http://schemas.openxmlformats.org/drawingml/2006/main" noGrp="1"/>
          </p:cNvSpPr>
          <p:nvPr/>
        </p:nvSpPr>
        <p:spPr>
          <a:xfrm xmlns:a="http://schemas.openxmlformats.org/drawingml/2006/main">
            <a:off x="533400" y="1047750"/>
            <a:ext cx="1104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350" b="1">
                <a:solidFill>
                  <a:srgbClr val="111111"/>
                </a:solidFill>
                <a:latin typeface="Arial Narrow"/>
                <a:ea typeface="Arial Narrow"/>
                <a:cs typeface="Arial Narrow"/>
              </a:defRPr>
            </a:defPPr>
          </a:lstStyle>
          <a:p xmlns:a="http://schemas.openxmlformats.org/drawingml/2006/main">
            <a:pPr>
              <a:defRPr sz="4350" b="1">
                <a:solidFill>
                  <a:srgbClr val="111111"/>
                </a:solidFill>
                <a:latin typeface="Arial Narrow"/>
                <a:ea typeface="Arial Narrow"/>
                <a:cs typeface="Arial Narrow"/>
              </a:defRPr>
            </a:pPr>
            <a:r>
              <a:rPr sz="4350" b="1">
                <a:solidFill>
                  <a:srgbClr val="111111"/>
                </a:solidFill>
                <a:latin typeface="Arial Narrow"/>
                <a:ea typeface="Arial Narrow"/>
                <a:cs typeface="Arial Narrow"/>
              </a:rPr>
              <a:t>The first pilot</a:t>
            </a:r>
          </a:p>
        </p:txBody>
      </p:sp>
      <p:sp>
        <p:nvSpPr>
          <p:cNvPr id="4" name="">
            <a:extLst xmlns:a="http://schemas.openxmlformats.org/drawingml/2006/main">
              <a:ext uri="{FF2B5EF4-FFF2-40B4-BE49-F238E27FC236}">
                <a16:creationId xmlns:a16="http://schemas.microsoft.com/office/drawing/2014/main" id="{96C96C17-431C-4026-9624-2164F4015284}"/>
              </a:ext>
            </a:extLst>
          </p:cNvPr>
          <p:cNvSpPr>
            <a:spLocks xmlns:a="http://schemas.openxmlformats.org/drawingml/2006/main" noGrp="1"/>
          </p:cNvSpPr>
          <p:nvPr/>
        </p:nvSpPr>
        <p:spPr>
          <a:xfrm xmlns:a="http://schemas.openxmlformats.org/drawingml/2006/main">
            <a:off x="533400" y="2667000"/>
            <a:ext cx="642937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11111"/>
                </a:solidFill>
                <a:latin typeface="Arial Narrow"/>
                <a:ea typeface="Arial Narrow"/>
                <a:cs typeface="Arial Narrow"/>
              </a:defRPr>
            </a:defPPr>
          </a:lstStyle>
          <a:p xmlns:a="http://schemas.openxmlformats.org/drawingml/2006/main">
            <a:pPr>
              <a:defRPr sz="3675" b="1">
                <a:solidFill>
                  <a:srgbClr val="111111"/>
                </a:solidFill>
                <a:latin typeface="Arial Narrow"/>
                <a:ea typeface="Arial Narrow"/>
                <a:cs typeface="Arial Narrow"/>
              </a:defRPr>
            </a:pPr>
            <a:r>
              <a:rPr sz="3675" b="1">
                <a:solidFill>
                  <a:srgbClr val="111111"/>
                </a:solidFill>
                <a:latin typeface="Arial Narrow"/>
                <a:ea typeface="Arial Narrow"/>
                <a:cs typeface="Arial Narrow"/>
              </a:rPr>
              <a:t>One trusted organizer.</a:t>
            </a:r>
          </a:p>
          <a:p xmlns:a="http://schemas.openxmlformats.org/drawingml/2006/main">
            <a:pPr>
              <a:defRPr sz="3675" b="1">
                <a:solidFill>
                  <a:srgbClr val="111111"/>
                </a:solidFill>
                <a:latin typeface="Arial Narrow"/>
                <a:ea typeface="Arial Narrow"/>
                <a:cs typeface="Arial Narrow"/>
              </a:defRPr>
            </a:pPr>
            <a:r>
              <a:rPr sz="3675" b="1">
                <a:solidFill>
                  <a:srgbClr val="111111"/>
                </a:solidFill>
                <a:latin typeface="Arial Narrow"/>
                <a:ea typeface="Arial Narrow"/>
                <a:cs typeface="Arial Narrow"/>
              </a:rPr>
              <a:t>One event.</a:t>
            </a:r>
          </a:p>
          <a:p xmlns:a="http://schemas.openxmlformats.org/drawingml/2006/main">
            <a:pPr>
              <a:defRPr sz="3675" b="1">
                <a:solidFill>
                  <a:srgbClr val="111111"/>
                </a:solidFill>
                <a:latin typeface="Arial Narrow"/>
                <a:ea typeface="Arial Narrow"/>
                <a:cs typeface="Arial Narrow"/>
              </a:defRPr>
            </a:pPr>
            <a:r>
              <a:rPr sz="3675" b="1">
                <a:solidFill>
                  <a:srgbClr val="111111"/>
                </a:solidFill>
                <a:latin typeface="Arial Narrow"/>
                <a:ea typeface="Arial Narrow"/>
                <a:cs typeface="Arial Narrow"/>
              </a:rPr>
              <a:t>A complete ticket journey.</a:t>
            </a:r>
          </a:p>
        </p:txBody>
      </p:sp>
      <p:sp>
        <p:nvSpPr>
          <p:cNvPr id="5" name="">
            <a:extLst xmlns:a="http://schemas.openxmlformats.org/drawingml/2006/main">
              <a:ext uri="{FF2B5EF4-FFF2-40B4-BE49-F238E27FC236}">
                <a16:creationId xmlns:a16="http://schemas.microsoft.com/office/drawing/2014/main" id="{260AA9FB-5805-4BFD-9CA5-21B8FC716FCB}"/>
              </a:ext>
            </a:extLst>
          </p:cNvPr>
          <p:cNvSpPr>
            <a:spLocks xmlns:a="http://schemas.openxmlformats.org/drawingml/2006/main" noGrp="1"/>
          </p:cNvSpPr>
          <p:nvPr/>
        </p:nvSpPr>
        <p:spPr>
          <a:xfrm xmlns:a="http://schemas.openxmlformats.org/drawingml/2006/main">
            <a:off x="533400" y="4848225"/>
            <a:ext cx="6238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11111"/>
                </a:solidFill>
                <a:latin typeface="Arial"/>
                <a:ea typeface="Arial"/>
                <a:cs typeface="Arial"/>
              </a:defRPr>
            </a:defPPr>
          </a:lstStyle>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Measure purchase completion, resale use</a:t>
            </a:r>
          </a:p>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and admission errors before expanding.</a:t>
            </a:r>
          </a:p>
        </p:txBody>
      </p:sp>
      <p:sp>
        <p:nvSpPr>
          <p:cNvPr id="6" name="">
            <a:extLst xmlns:a="http://schemas.openxmlformats.org/drawingml/2006/main">
              <a:ext uri="{FF2B5EF4-FFF2-40B4-BE49-F238E27FC236}">
                <a16:creationId xmlns:a16="http://schemas.microsoft.com/office/drawing/2014/main" id="{6E69BB20-F504-4FA6-8A00-81143E2B4EB3}"/>
              </a:ext>
            </a:extLst>
          </p:cNvPr>
          <p:cNvSpPr>
            <a:spLocks xmlns:a="http://schemas.openxmlformats.org/drawingml/2006/main" noGrp="1"/>
          </p:cNvSpPr>
          <p:nvPr/>
        </p:nvSpPr>
        <p:spPr>
          <a:xfrm xmlns:a="http://schemas.openxmlformats.org/drawingml/2006/main">
            <a:off x="533400" y="6029325"/>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75756F"/>
                </a:solidFill>
                <a:latin typeface="Arial"/>
                <a:ea typeface="Arial"/>
                <a:cs typeface="Arial"/>
              </a:defRPr>
            </a:defPPr>
          </a:lstStyle>
          <a:p xmlns:a="http://schemas.openxmlformats.org/drawingml/2006/main">
            <a:pPr>
              <a:defRPr sz="1350" b="0">
                <a:solidFill>
                  <a:srgbClr val="75756F"/>
                </a:solidFill>
                <a:latin typeface="Arial"/>
                <a:ea typeface="Arial"/>
                <a:cs typeface="Arial"/>
              </a:defRPr>
            </a:pPr>
            <a:r>
              <a:rPr sz="1350" b="0">
                <a:solidFill>
                  <a:srgbClr val="75756F"/>
                </a:solidFill>
                <a:latin typeface="Arial"/>
                <a:ea typeface="Arial"/>
                <a:cs typeface="Arial"/>
              </a:rPr>
              <a:t>ticketsol-live.nrnbekov557178.chatgpt.site</a:t>
            </a:r>
          </a:p>
        </p:txBody>
      </p:sp>
      <p:pic>
        <p:nvPicPr>
          <p:cNvPr id="7" name="">
            <a:extLst xmlns:a="http://schemas.openxmlformats.org/drawingml/2006/main">
              <a:ext uri="{FF2B5EF4-FFF2-40B4-BE49-F238E27FC236}">
                <a16:creationId xmlns:a16="http://schemas.microsoft.com/office/drawing/2014/main" id="{D2ABBAFA-202D-4316-855F-70F43CB01659}"/>
              </a:ext>
            </a:extLst>
          </p:cNvPr>
          <p:cNvPicPr>
            <a:picLocks xmlns:a="http://schemas.openxmlformats.org/drawingml/2006/main" noChangeAspect="1"/>
          </p:cNvPicPr>
          <p:nvPr/>
        </p:nvPicPr>
        <p:blipFill>
          <a:blip xmlns:r="http://schemas.openxmlformats.org/officeDocument/2006/relationships" xmlns:a="http://schemas.openxmlformats.org/drawingml/2006/main" r:embed="Ra8b4e1b6baff45b8"/>
          <a:srcRect xmlns:a="http://schemas.openxmlformats.org/drawingml/2006/main" l="11111" t="0" r="11111" b="0"/>
          <a:stretch xmlns:a="http://schemas.openxmlformats.org/drawingml/2006/main">
            <a:fillRect l="0" t="0" r="0" b="0"/>
          </a:stretch>
        </p:blipFill>
        <p:spPr>
          <a:xfrm xmlns:a="http://schemas.openxmlformats.org/drawingml/2006/main">
            <a:off x="7658100" y="2390775"/>
            <a:ext cx="4000500" cy="3429000"/>
          </a:xfrm>
          <a:prstGeom xmlns:a="http://schemas.openxmlformats.org/drawingml/2006/main" prst="rect">
            <a:avLst/>
          </a:prstGeom>
        </p:spPr>
      </p:pic>
    </p:spTree>
    <p:extLst>
      <p:ext uri="{BB962C8B-B14F-4D97-AF65-F5344CB8AC3E}">
        <p14:creationId xmlns:p14="http://schemas.microsoft.com/office/powerpoint/2010/main" val="14020731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2026-10-05T09:47:03.7630000Z</dcterms:created>
  <dcterms:modified xsi:type="dcterms:W3CDTF">2026-10-05T09:47:03.7630000Z</dcterms:modified>
</coreProperties>
</file>